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4" r:id="rId6"/>
    <p:sldId id="272" r:id="rId7"/>
    <p:sldId id="271" r:id="rId8"/>
    <p:sldId id="269" r:id="rId9"/>
    <p:sldId id="270" r:id="rId10"/>
    <p:sldId id="278" r:id="rId11"/>
    <p:sldId id="279" r:id="rId12"/>
    <p:sldId id="280" r:id="rId13"/>
    <p:sldId id="273" r:id="rId14"/>
    <p:sldId id="274" r:id="rId15"/>
    <p:sldId id="275" r:id="rId16"/>
    <p:sldId id="276" r:id="rId17"/>
    <p:sldId id="277"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57" autoAdjust="0"/>
    <p:restoredTop sz="94610"/>
  </p:normalViewPr>
  <p:slideViewPr>
    <p:cSldViewPr snapToGrid="0" snapToObjects="1">
      <p:cViewPr>
        <p:scale>
          <a:sx n="66" d="100"/>
          <a:sy n="66" d="100"/>
        </p:scale>
        <p:origin x="138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951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2690-9F0C-6EFB-461F-F3EA69254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94C7E-2E09-7BEC-447A-63C3E07DE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10F67-4002-F7A0-E760-4E1BEF58D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EA9699-CA95-C73E-17EF-1A3E37C1B0E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42439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C7633-256F-B458-CC72-1FED64A3C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EA4AF-6E1B-E68D-A6B8-27CF143B34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60C7B-6319-CA15-DDF8-E158391D74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9D1B0-281E-6282-58C8-1B0A69DC4AE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3021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7BAD-0190-4593-6098-CCC4FA0E2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143FA-A757-3E09-3E4A-72D0AF07F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227F6-F9D8-AABB-3BC9-613B9CED37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BAED2F-889C-6004-C3BF-BC3BB0F42BD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43935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DC004-7917-33A9-4DC9-202815E94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C3FEC-8C9C-9E53-A1F1-1102B458F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124AE-88F7-CE67-7F13-379271A042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7A1B9-0792-6C7D-21B0-891CBEAF4B3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80852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759F-54DF-016C-5D63-98874F328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C9A11-C2B2-AE4E-3C63-495ABCB6E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74D4DB-CC82-A0CB-2A4F-B3BC5702D7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42BFB9-B8B3-1BD5-9E19-02CE3CC8782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04423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9B3A8-7DCA-CA6D-60CA-AF8091D47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9C7F5-C74C-3707-66D0-772849E2C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0ACAA-D1D5-F7F0-4E0A-17926D354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B66C4-96EE-FBEF-FD00-ED21F4DE3BF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60725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8050-A1E5-B622-A729-90F859BA7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A0923-122C-CA91-52FF-86DF105E0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8B07D-550F-7EED-922B-73977EE8DD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FA1819-B6B3-F884-52CC-BB6DB9FBCE8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068557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6F3E5-C3A4-410A-29D3-882CA8B5A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4969B-B18B-B0D3-838A-F576CDADD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E7E95-1243-A8CE-854C-7CACA40FBB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D34B68-D01D-8143-5253-21ECFF0ED79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08166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3888-4747-B31B-8938-0B3D297B3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45115-32D4-59C1-F052-E7A2094D3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597B0-4E03-F2BA-71E2-A909D30C5C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3A0E2-501C-44BE-C439-3EA00639DE9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76131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C4AA-6C77-5E79-E12A-D7A8620C8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53BD3-73C2-291D-5AFC-AC40CFE77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16449-7499-50BC-1CBD-3A00175B3B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23DC84-FFBB-E39B-0A46-9ABB01277DB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501956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47889-308F-4D70-C191-B4B618598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AE392-88A4-C116-6A6D-9217AD110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BA298-0169-497A-806B-A42BA71A6B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BBA4C7-5F26-E8CB-8735-8DA87F75D98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13629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54F25-027F-3FD0-B045-FC955EA77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71E61-C011-AF7E-DC82-4D75EF193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6516C-9040-EF30-00EB-3DB07A3319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F148E1-C177-BA4E-D282-80C1E7B27C9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15868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94560"/>
          </a:solidFill>
          <a:ln w="12700">
            <a:solidFill>
              <a:srgbClr val="E94560"/>
            </a:solidFill>
            <a:prstDash val="solid"/>
          </a:ln>
        </p:spPr>
      </p:sp>
      <p:sp>
        <p:nvSpPr>
          <p:cNvPr id="3" name="Text 1"/>
          <p:cNvSpPr/>
          <p:nvPr/>
        </p:nvSpPr>
        <p:spPr>
          <a:xfrm>
            <a:off x="457200" y="457200"/>
            <a:ext cx="8229600" cy="1097280"/>
          </a:xfrm>
          <a:prstGeom prst="rect">
            <a:avLst/>
          </a:prstGeom>
          <a:noFill/>
          <a:ln/>
        </p:spPr>
        <p:txBody>
          <a:bodyPr wrap="square" rtlCol="0" anchor="ctr"/>
          <a:lstStyle/>
          <a:p>
            <a:pPr marL="0" indent="0" algn="ctr">
              <a:buNone/>
            </a:pPr>
            <a:endParaRPr lang="en-US" sz="3800" dirty="0"/>
          </a:p>
        </p:txBody>
      </p:sp>
      <p:sp>
        <p:nvSpPr>
          <p:cNvPr id="12" name="Text 10"/>
          <p:cNvSpPr/>
          <p:nvPr/>
        </p:nvSpPr>
        <p:spPr>
          <a:xfrm>
            <a:off x="7223760" y="2286000"/>
            <a:ext cx="1691640" cy="384048"/>
          </a:xfrm>
          <a:prstGeom prst="rect">
            <a:avLst/>
          </a:prstGeom>
          <a:noFill/>
          <a:ln/>
        </p:spPr>
        <p:txBody>
          <a:bodyPr wrap="square" rtlCol="0" anchor="ctr"/>
          <a:lstStyle/>
          <a:p>
            <a:pPr marL="0" indent="0" algn="ctr">
              <a:buNone/>
            </a:pPr>
            <a:endParaRPr lang="en-US" sz="1100" dirty="0"/>
          </a:p>
        </p:txBody>
      </p:sp>
      <p:sp>
        <p:nvSpPr>
          <p:cNvPr id="14" name="Text 12"/>
          <p:cNvSpPr/>
          <p:nvPr/>
        </p:nvSpPr>
        <p:spPr>
          <a:xfrm>
            <a:off x="1005840" y="2926080"/>
            <a:ext cx="7223760" cy="1463040"/>
          </a:xfrm>
          <a:prstGeom prst="rect">
            <a:avLst/>
          </a:prstGeom>
          <a:noFill/>
          <a:ln/>
        </p:spPr>
        <p:txBody>
          <a:bodyPr wrap="square" rtlCol="0" anchor="t"/>
          <a:lstStyle/>
          <a:p>
            <a:pPr marL="0" indent="0">
              <a:buNone/>
            </a:pPr>
            <a:endParaRPr lang="en-US" sz="1400" dirty="0"/>
          </a:p>
        </p:txBody>
      </p:sp>
      <p:sp>
        <p:nvSpPr>
          <p:cNvPr id="15" name="Shape 13"/>
          <p:cNvSpPr/>
          <p:nvPr/>
        </p:nvSpPr>
        <p:spPr>
          <a:xfrm>
            <a:off x="0" y="5074920"/>
            <a:ext cx="9144000" cy="68580"/>
          </a:xfrm>
          <a:prstGeom prst="rect">
            <a:avLst/>
          </a:prstGeom>
          <a:solidFill>
            <a:srgbClr val="533483"/>
          </a:solidFill>
          <a:ln w="12700">
            <a:solidFill>
              <a:srgbClr val="533483"/>
            </a:solidFill>
            <a:prstDash val="solid"/>
          </a:ln>
        </p:spPr>
      </p:sp>
      <p:sp>
        <p:nvSpPr>
          <p:cNvPr id="16" name="Text 14"/>
          <p:cNvSpPr/>
          <p:nvPr/>
        </p:nvSpPr>
        <p:spPr>
          <a:xfrm>
            <a:off x="0" y="4937760"/>
            <a:ext cx="9144000" cy="274320"/>
          </a:xfrm>
          <a:prstGeom prst="rect">
            <a:avLst/>
          </a:prstGeom>
          <a:noFill/>
          <a:ln/>
        </p:spPr>
        <p:txBody>
          <a:bodyPr wrap="square" rtlCol="0" anchor="ctr"/>
          <a:lstStyle/>
          <a:p>
            <a:pPr marL="0" indent="0" algn="ctr">
              <a:buNone/>
            </a:pPr>
            <a:endParaRPr lang="en-US" sz="900" dirty="0"/>
          </a:p>
        </p:txBody>
      </p:sp>
      <p:pic>
        <p:nvPicPr>
          <p:cNvPr id="20" name="Picture 19">
            <a:extLst>
              <a:ext uri="{FF2B5EF4-FFF2-40B4-BE49-F238E27FC236}">
                <a16:creationId xmlns:a16="http://schemas.microsoft.com/office/drawing/2014/main" id="{C548A0DB-966F-569D-771E-C1A1058F16E2}"/>
              </a:ext>
            </a:extLst>
          </p:cNvPr>
          <p:cNvPicPr>
            <a:picLocks noChangeAspect="1"/>
          </p:cNvPicPr>
          <p:nvPr/>
        </p:nvPicPr>
        <p:blipFill>
          <a:blip r:embed="rId3"/>
          <a:stretch>
            <a:fillRect/>
          </a:stretch>
        </p:blipFill>
        <p:spPr>
          <a:xfrm>
            <a:off x="12989" y="-38996"/>
            <a:ext cx="9118022" cy="51824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565C0"/>
          </a:solidFill>
          <a:ln w="12700">
            <a:solidFill>
              <a:srgbClr val="1565C0"/>
            </a:solidFill>
            <a:prstDash val="solid"/>
          </a:ln>
        </p:spPr>
      </p:sp>
      <p:sp>
        <p:nvSpPr>
          <p:cNvPr id="3" name="Text 1"/>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THE PROBLEM WE ARE SOLVING</a:t>
            </a:r>
            <a:endParaRPr lang="en-US" sz="1800" dirty="0"/>
          </a:p>
        </p:txBody>
      </p:sp>
      <p:sp>
        <p:nvSpPr>
          <p:cNvPr id="4" name="Shape 2"/>
          <p:cNvSpPr/>
          <p:nvPr/>
        </p:nvSpPr>
        <p:spPr>
          <a:xfrm>
            <a:off x="274320" y="685800"/>
            <a:ext cx="8595360" cy="1005840"/>
          </a:xfrm>
          <a:prstGeom prst="rect">
            <a:avLst/>
          </a:prstGeom>
          <a:solidFill>
            <a:srgbClr val="E3F2FD"/>
          </a:solidFill>
          <a:ln w="12700">
            <a:solidFill>
              <a:srgbClr val="1565C0"/>
            </a:solidFill>
            <a:prstDash val="solid"/>
          </a:ln>
        </p:spPr>
      </p:sp>
      <p:sp>
        <p:nvSpPr>
          <p:cNvPr id="5" name="Text 3"/>
          <p:cNvSpPr/>
          <p:nvPr/>
        </p:nvSpPr>
        <p:spPr>
          <a:xfrm>
            <a:off x="548640" y="850392"/>
            <a:ext cx="8229600" cy="822960"/>
          </a:xfrm>
          <a:prstGeom prst="rect">
            <a:avLst/>
          </a:prstGeom>
          <a:noFill/>
          <a:ln/>
        </p:spPr>
        <p:txBody>
          <a:bodyPr wrap="square" rtlCol="0" anchor="ctr"/>
          <a:lstStyle/>
          <a:p>
            <a:pPr algn="just"/>
            <a:r>
              <a:rPr lang="en-US" sz="1100" dirty="0"/>
              <a:t>Nowadays many people talk about their feelings and mental health on social media platforms like Reddit. Some people who are suffering from depression may express their emotions through posts or comments online.</a:t>
            </a:r>
          </a:p>
          <a:p>
            <a:pPr algn="just"/>
            <a:r>
              <a:rPr lang="en-US" sz="1100" dirty="0"/>
              <a:t>But there are millions of posts every day, so it is very difficult for humans to read all posts and find people who might be depressed.</a:t>
            </a:r>
          </a:p>
          <a:p>
            <a:pPr algn="just"/>
            <a:r>
              <a:rPr lang="en-US" sz="1100" dirty="0"/>
              <a:t>Our project tries to solve this problem by using Artificial Intelligence and Natural Language Processing. The system will automatically read Reddit posts and detect whether the post shows signs of depression or not.</a:t>
            </a:r>
          </a:p>
          <a:p>
            <a:pPr algn="just"/>
            <a:endParaRPr lang="en-US" sz="1100" dirty="0"/>
          </a:p>
        </p:txBody>
      </p:sp>
      <p:sp>
        <p:nvSpPr>
          <p:cNvPr id="6" name="Shape 4"/>
          <p:cNvSpPr/>
          <p:nvPr/>
        </p:nvSpPr>
        <p:spPr>
          <a:xfrm>
            <a:off x="274320" y="1874520"/>
            <a:ext cx="2743200" cy="2286000"/>
          </a:xfrm>
          <a:prstGeom prst="rect">
            <a:avLst/>
          </a:prstGeom>
          <a:solidFill>
            <a:srgbClr val="FFFFFF"/>
          </a:solidFill>
          <a:ln w="12700">
            <a:solidFill>
              <a:srgbClr val="1565C0"/>
            </a:solidFill>
            <a:prstDash val="solid"/>
          </a:ln>
        </p:spPr>
      </p:sp>
      <p:sp>
        <p:nvSpPr>
          <p:cNvPr id="7" name="Text 5"/>
          <p:cNvSpPr/>
          <p:nvPr/>
        </p:nvSpPr>
        <p:spPr>
          <a:xfrm>
            <a:off x="274320" y="1965960"/>
            <a:ext cx="274320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365760" y="2514600"/>
            <a:ext cx="2560320" cy="320040"/>
          </a:xfrm>
          <a:prstGeom prst="rect">
            <a:avLst/>
          </a:prstGeom>
          <a:noFill/>
          <a:ln/>
        </p:spPr>
        <p:txBody>
          <a:bodyPr wrap="square" rtlCol="0" anchor="ctr"/>
          <a:lstStyle/>
          <a:p>
            <a:pPr marL="0" indent="0" algn="ctr">
              <a:buNone/>
            </a:pPr>
            <a:r>
              <a:rPr lang="en-US" sz="1300" b="1" dirty="0">
                <a:solidFill>
                  <a:srgbClr val="1565C0"/>
                </a:solidFill>
              </a:rPr>
              <a:t>Hard to Detect</a:t>
            </a:r>
            <a:endParaRPr lang="en-US" sz="1300" dirty="0"/>
          </a:p>
        </p:txBody>
      </p:sp>
      <p:sp>
        <p:nvSpPr>
          <p:cNvPr id="9" name="Text 7"/>
          <p:cNvSpPr/>
          <p:nvPr/>
        </p:nvSpPr>
        <p:spPr>
          <a:xfrm>
            <a:off x="365760" y="2880360"/>
            <a:ext cx="2560320" cy="1188720"/>
          </a:xfrm>
          <a:prstGeom prst="rect">
            <a:avLst/>
          </a:prstGeom>
          <a:noFill/>
          <a:ln/>
        </p:spPr>
        <p:txBody>
          <a:bodyPr wrap="square" rtlCol="0" anchor="ctr"/>
          <a:lstStyle/>
          <a:p>
            <a:pPr marL="0" indent="0" algn="just">
              <a:buNone/>
            </a:pPr>
            <a:r>
              <a:rPr lang="en-US" sz="1150" dirty="0">
                <a:solidFill>
                  <a:srgbClr val="1A1A2E"/>
                </a:solidFill>
                <a:latin typeface="Calibri" pitchFamily="34" charset="0"/>
                <a:ea typeface="Calibri" pitchFamily="34" charset="-122"/>
                <a:cs typeface="Calibri" pitchFamily="34" charset="-120"/>
              </a:rPr>
              <a:t>People rarely say 'I am depressed' directly. It shows in their word choice — hopeless, empty, worthless, burden.</a:t>
            </a:r>
            <a:endParaRPr lang="en-US" sz="1150" dirty="0"/>
          </a:p>
        </p:txBody>
      </p:sp>
      <p:sp>
        <p:nvSpPr>
          <p:cNvPr id="10" name="Shape 8"/>
          <p:cNvSpPr/>
          <p:nvPr/>
        </p:nvSpPr>
        <p:spPr>
          <a:xfrm>
            <a:off x="3200400" y="1874520"/>
            <a:ext cx="2743200" cy="2286000"/>
          </a:xfrm>
          <a:prstGeom prst="rect">
            <a:avLst/>
          </a:prstGeom>
          <a:solidFill>
            <a:srgbClr val="FFFFFF"/>
          </a:solidFill>
          <a:ln w="12700">
            <a:solidFill>
              <a:srgbClr val="1565C0"/>
            </a:solidFill>
            <a:prstDash val="solid"/>
          </a:ln>
        </p:spPr>
      </p:sp>
      <p:sp>
        <p:nvSpPr>
          <p:cNvPr id="11" name="Text 9"/>
          <p:cNvSpPr/>
          <p:nvPr/>
        </p:nvSpPr>
        <p:spPr>
          <a:xfrm>
            <a:off x="3200400" y="1965960"/>
            <a:ext cx="274320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3291840" y="2514600"/>
            <a:ext cx="2560320" cy="320040"/>
          </a:xfrm>
          <a:prstGeom prst="rect">
            <a:avLst/>
          </a:prstGeom>
          <a:noFill/>
          <a:ln/>
        </p:spPr>
        <p:txBody>
          <a:bodyPr wrap="square" rtlCol="0" anchor="ctr"/>
          <a:lstStyle/>
          <a:p>
            <a:pPr marL="0" indent="0" algn="ctr">
              <a:buNone/>
            </a:pPr>
            <a:r>
              <a:rPr lang="en-US" sz="1300" b="1" dirty="0">
                <a:solidFill>
                  <a:srgbClr val="1565C0"/>
                </a:solidFill>
              </a:rPr>
              <a:t>Millions Post Online</a:t>
            </a:r>
            <a:endParaRPr lang="en-US" sz="1300" dirty="0"/>
          </a:p>
        </p:txBody>
      </p:sp>
      <p:sp>
        <p:nvSpPr>
          <p:cNvPr id="13" name="Text 11"/>
          <p:cNvSpPr/>
          <p:nvPr/>
        </p:nvSpPr>
        <p:spPr>
          <a:xfrm>
            <a:off x="3291840" y="2880360"/>
            <a:ext cx="2560320" cy="1188720"/>
          </a:xfrm>
          <a:prstGeom prst="rect">
            <a:avLst/>
          </a:prstGeom>
          <a:noFill/>
          <a:ln/>
        </p:spPr>
        <p:txBody>
          <a:bodyPr wrap="square" rtlCol="0" anchor="ctr"/>
          <a:lstStyle/>
          <a:p>
            <a:pPr marL="0" indent="0" algn="just">
              <a:buNone/>
            </a:pPr>
            <a:r>
              <a:rPr lang="en-US" sz="1150" dirty="0">
                <a:solidFill>
                  <a:srgbClr val="1A1A2E"/>
                </a:solidFill>
                <a:latin typeface="Calibri" pitchFamily="34" charset="0"/>
                <a:ea typeface="Calibri" pitchFamily="34" charset="-122"/>
                <a:cs typeface="Calibri" pitchFamily="34" charset="-120"/>
              </a:rPr>
              <a:t>Reddit has millions of posts every day on mental health forums. No human team can read and flag them all.</a:t>
            </a:r>
            <a:endParaRPr lang="en-US" sz="1150" dirty="0"/>
          </a:p>
        </p:txBody>
      </p:sp>
      <p:sp>
        <p:nvSpPr>
          <p:cNvPr id="14" name="Shape 12"/>
          <p:cNvSpPr/>
          <p:nvPr/>
        </p:nvSpPr>
        <p:spPr>
          <a:xfrm>
            <a:off x="6126480" y="1874520"/>
            <a:ext cx="2743200" cy="2286000"/>
          </a:xfrm>
          <a:prstGeom prst="rect">
            <a:avLst/>
          </a:prstGeom>
          <a:solidFill>
            <a:srgbClr val="FFFFFF"/>
          </a:solidFill>
          <a:ln w="12700">
            <a:solidFill>
              <a:srgbClr val="1565C0"/>
            </a:solidFill>
            <a:prstDash val="solid"/>
          </a:ln>
        </p:spPr>
      </p:sp>
      <p:sp>
        <p:nvSpPr>
          <p:cNvPr id="15" name="Text 13"/>
          <p:cNvSpPr/>
          <p:nvPr/>
        </p:nvSpPr>
        <p:spPr>
          <a:xfrm>
            <a:off x="6126480" y="1965960"/>
            <a:ext cx="274320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6" name="Text 14"/>
          <p:cNvSpPr/>
          <p:nvPr/>
        </p:nvSpPr>
        <p:spPr>
          <a:xfrm>
            <a:off x="6217920" y="2514600"/>
            <a:ext cx="2560320" cy="320040"/>
          </a:xfrm>
          <a:prstGeom prst="rect">
            <a:avLst/>
          </a:prstGeom>
          <a:noFill/>
          <a:ln/>
        </p:spPr>
        <p:txBody>
          <a:bodyPr wrap="square" rtlCol="0" anchor="ctr"/>
          <a:lstStyle/>
          <a:p>
            <a:pPr marL="0" indent="0" algn="ctr">
              <a:buNone/>
            </a:pPr>
            <a:r>
              <a:rPr lang="en-US" sz="1300" b="1" dirty="0">
                <a:solidFill>
                  <a:srgbClr val="1565C0"/>
                </a:solidFill>
              </a:rPr>
              <a:t>AI Can Help</a:t>
            </a:r>
            <a:endParaRPr lang="en-US" sz="1300" dirty="0"/>
          </a:p>
        </p:txBody>
      </p:sp>
      <p:sp>
        <p:nvSpPr>
          <p:cNvPr id="17" name="Text 15"/>
          <p:cNvSpPr/>
          <p:nvPr/>
        </p:nvSpPr>
        <p:spPr>
          <a:xfrm>
            <a:off x="6217920" y="2880360"/>
            <a:ext cx="2560320" cy="1188720"/>
          </a:xfrm>
          <a:prstGeom prst="rect">
            <a:avLst/>
          </a:prstGeom>
          <a:noFill/>
          <a:ln/>
        </p:spPr>
        <p:txBody>
          <a:bodyPr wrap="square" rtlCol="0" anchor="ctr"/>
          <a:lstStyle/>
          <a:p>
            <a:pPr marL="0" indent="0" algn="just">
              <a:buNone/>
            </a:pPr>
            <a:r>
              <a:rPr lang="en-US" sz="1150" dirty="0">
                <a:solidFill>
                  <a:srgbClr val="1A1A2E"/>
                </a:solidFill>
                <a:latin typeface="Calibri" pitchFamily="34" charset="0"/>
                <a:ea typeface="Calibri" pitchFamily="34" charset="-122"/>
                <a:cs typeface="Calibri" pitchFamily="34" charset="-120"/>
              </a:rPr>
              <a:t>A well-trained AI model can scan text and detect patterns that signal depression — quickly and at scale.</a:t>
            </a:r>
            <a:endParaRPr lang="en-US" sz="1150" dirty="0"/>
          </a:p>
        </p:txBody>
      </p:sp>
      <p:sp>
        <p:nvSpPr>
          <p:cNvPr id="18" name="Shape 16"/>
          <p:cNvSpPr/>
          <p:nvPr/>
        </p:nvSpPr>
        <p:spPr>
          <a:xfrm>
            <a:off x="274320" y="4297680"/>
            <a:ext cx="8595360" cy="640080"/>
          </a:xfrm>
          <a:prstGeom prst="rect">
            <a:avLst/>
          </a:prstGeom>
          <a:solidFill>
            <a:srgbClr val="1565C0"/>
          </a:solidFill>
          <a:ln w="12700">
            <a:solidFill>
              <a:srgbClr val="1565C0"/>
            </a:solidFill>
            <a:prstDash val="solid"/>
          </a:ln>
        </p:spPr>
        <p:txBody>
          <a:bodyPr/>
          <a:lstStyle/>
          <a:p>
            <a:endParaRPr lang="en-IN" dirty="0"/>
          </a:p>
        </p:txBody>
      </p:sp>
      <p:sp>
        <p:nvSpPr>
          <p:cNvPr id="19" name="Text 17"/>
          <p:cNvSpPr/>
          <p:nvPr/>
        </p:nvSpPr>
        <p:spPr>
          <a:xfrm>
            <a:off x="457200" y="4343400"/>
            <a:ext cx="8229600" cy="502920"/>
          </a:xfrm>
          <a:prstGeom prst="rect">
            <a:avLst/>
          </a:prstGeom>
          <a:noFill/>
          <a:ln/>
        </p:spPr>
        <p:txBody>
          <a:bodyPr wrap="square" rtlCol="0" anchor="ctr"/>
          <a:lstStyle/>
          <a:p>
            <a:pPr marL="0" indent="0" algn="ctr">
              <a:buNone/>
            </a:pPr>
            <a:r>
              <a:rPr lang="en-US" sz="1300" b="1" dirty="0">
                <a:solidFill>
                  <a:srgbClr val="FFFFFF"/>
                </a:solidFill>
              </a:rPr>
              <a:t>🎯  Our Goal: Train an AI to read Reddit posts and classify them as Depressed or Not Depressed.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18341"/>
            <a:ext cx="9144000" cy="502920"/>
          </a:xfrm>
          <a:prstGeom prst="rect">
            <a:avLst/>
          </a:prstGeom>
          <a:solidFill>
            <a:srgbClr val="E94560"/>
          </a:solidFill>
          <a:ln w="12700">
            <a:solidFill>
              <a:srgbClr val="E94560"/>
            </a:solidFill>
            <a:prstDash val="solid"/>
          </a:ln>
        </p:spPr>
      </p:sp>
      <p:sp>
        <p:nvSpPr>
          <p:cNvPr id="3" name="Text 1"/>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WHERE DID WE GET THE DATA?</a:t>
            </a:r>
            <a:endParaRPr lang="en-US" sz="1800" dirty="0"/>
          </a:p>
        </p:txBody>
      </p:sp>
      <p:sp>
        <p:nvSpPr>
          <p:cNvPr id="4" name="Text 2"/>
          <p:cNvSpPr/>
          <p:nvPr/>
        </p:nvSpPr>
        <p:spPr>
          <a:xfrm>
            <a:off x="457200" y="640080"/>
            <a:ext cx="8229600" cy="457200"/>
          </a:xfrm>
          <a:prstGeom prst="rect">
            <a:avLst/>
          </a:prstGeom>
          <a:noFill/>
          <a:ln/>
        </p:spPr>
        <p:txBody>
          <a:bodyPr wrap="square" rtlCol="0" anchor="ctr"/>
          <a:lstStyle/>
          <a:p>
            <a:pPr algn="ctr"/>
            <a:r>
              <a:rPr lang="en-US" sz="1200" dirty="0">
                <a:solidFill>
                  <a:srgbClr val="B0BEC5"/>
                </a:solidFill>
              </a:rPr>
              <a:t>We collected posts from 5 Reddit communities (subreddits). Each post was given a label — depressed or not depressed.</a:t>
            </a:r>
            <a:endParaRPr lang="en-US" sz="1200" dirty="0"/>
          </a:p>
        </p:txBody>
      </p:sp>
      <p:sp>
        <p:nvSpPr>
          <p:cNvPr id="5" name="Shape 3"/>
          <p:cNvSpPr/>
          <p:nvPr/>
        </p:nvSpPr>
        <p:spPr>
          <a:xfrm>
            <a:off x="274320" y="1188720"/>
            <a:ext cx="3840480" cy="3291840"/>
          </a:xfrm>
          <a:prstGeom prst="rect">
            <a:avLst/>
          </a:prstGeom>
          <a:solidFill>
            <a:srgbClr val="3B0000"/>
          </a:solidFill>
          <a:ln w="12700">
            <a:solidFill>
              <a:srgbClr val="E94560"/>
            </a:solidFill>
            <a:prstDash val="solid"/>
          </a:ln>
        </p:spPr>
      </p:sp>
      <p:sp>
        <p:nvSpPr>
          <p:cNvPr id="6" name="Shape 4"/>
          <p:cNvSpPr/>
          <p:nvPr/>
        </p:nvSpPr>
        <p:spPr>
          <a:xfrm>
            <a:off x="274320" y="1202782"/>
            <a:ext cx="3840480" cy="502920"/>
          </a:xfrm>
          <a:prstGeom prst="rect">
            <a:avLst/>
          </a:prstGeom>
          <a:solidFill>
            <a:srgbClr val="E94560"/>
          </a:solidFill>
          <a:ln w="12700">
            <a:solidFill>
              <a:srgbClr val="E94560"/>
            </a:solidFill>
            <a:prstDash val="solid"/>
          </a:ln>
        </p:spPr>
      </p:sp>
      <p:sp>
        <p:nvSpPr>
          <p:cNvPr id="7" name="Text 5"/>
          <p:cNvSpPr/>
          <p:nvPr/>
        </p:nvSpPr>
        <p:spPr>
          <a:xfrm>
            <a:off x="365760" y="1234440"/>
            <a:ext cx="3657600" cy="365760"/>
          </a:xfrm>
          <a:prstGeom prst="rect">
            <a:avLst/>
          </a:prstGeom>
          <a:noFill/>
          <a:ln/>
        </p:spPr>
        <p:txBody>
          <a:bodyPr wrap="square" rtlCol="0" anchor="ctr"/>
          <a:lstStyle/>
          <a:p>
            <a:pPr marL="0" indent="0">
              <a:buNone/>
            </a:pPr>
            <a:r>
              <a:rPr lang="en-US" sz="1300" b="1" dirty="0">
                <a:solidFill>
                  <a:srgbClr val="FFFFFF"/>
                </a:solidFill>
              </a:rPr>
              <a:t>🔴  DEPRESSED  (Label = 1)</a:t>
            </a:r>
            <a:endParaRPr lang="en-US" sz="1300" dirty="0"/>
          </a:p>
        </p:txBody>
      </p:sp>
      <p:sp>
        <p:nvSpPr>
          <p:cNvPr id="8" name="Text 6"/>
          <p:cNvSpPr/>
          <p:nvPr/>
        </p:nvSpPr>
        <p:spPr>
          <a:xfrm>
            <a:off x="457200" y="1828800"/>
            <a:ext cx="3566160" cy="274320"/>
          </a:xfrm>
          <a:prstGeom prst="rect">
            <a:avLst/>
          </a:prstGeom>
          <a:noFill/>
          <a:ln/>
        </p:spPr>
        <p:txBody>
          <a:bodyPr wrap="square" rtlCol="0" anchor="ctr"/>
          <a:lstStyle/>
          <a:p>
            <a:pPr marL="0" indent="0">
              <a:buNone/>
            </a:pPr>
            <a:r>
              <a:rPr lang="en-US" sz="1300" b="1" dirty="0">
                <a:solidFill>
                  <a:srgbClr val="E94560"/>
                </a:solidFill>
              </a:rPr>
              <a:t>r/depression</a:t>
            </a:r>
            <a:endParaRPr lang="en-US" sz="1300" dirty="0"/>
          </a:p>
        </p:txBody>
      </p:sp>
      <p:sp>
        <p:nvSpPr>
          <p:cNvPr id="9" name="Text 7"/>
          <p:cNvSpPr/>
          <p:nvPr/>
        </p:nvSpPr>
        <p:spPr>
          <a:xfrm>
            <a:off x="457200" y="2103120"/>
            <a:ext cx="3566160" cy="5029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Posts about feeling hopeless, empty, unable to cope with daily life</a:t>
            </a:r>
            <a:endParaRPr lang="en-US" sz="1100" dirty="0"/>
          </a:p>
        </p:txBody>
      </p:sp>
      <p:sp>
        <p:nvSpPr>
          <p:cNvPr id="10" name="Text 8"/>
          <p:cNvSpPr/>
          <p:nvPr/>
        </p:nvSpPr>
        <p:spPr>
          <a:xfrm>
            <a:off x="457200" y="2743200"/>
            <a:ext cx="3566160" cy="274320"/>
          </a:xfrm>
          <a:prstGeom prst="rect">
            <a:avLst/>
          </a:prstGeom>
          <a:noFill/>
          <a:ln/>
        </p:spPr>
        <p:txBody>
          <a:bodyPr wrap="square" rtlCol="0" anchor="ctr"/>
          <a:lstStyle/>
          <a:p>
            <a:pPr marL="0" indent="0">
              <a:buNone/>
            </a:pPr>
            <a:r>
              <a:rPr lang="en-US" sz="1300" b="1" dirty="0">
                <a:solidFill>
                  <a:srgbClr val="E94560"/>
                </a:solidFill>
              </a:rPr>
              <a:t>r/SuicideWatch</a:t>
            </a:r>
            <a:endParaRPr lang="en-US" sz="1300" dirty="0"/>
          </a:p>
        </p:txBody>
      </p:sp>
      <p:sp>
        <p:nvSpPr>
          <p:cNvPr id="11" name="Text 9"/>
          <p:cNvSpPr/>
          <p:nvPr/>
        </p:nvSpPr>
        <p:spPr>
          <a:xfrm>
            <a:off x="457200" y="3017520"/>
            <a:ext cx="3566160" cy="5029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Posts about suicidal thoughts, feeling like a burden, wanting pain to stop</a:t>
            </a:r>
            <a:endParaRPr lang="en-US" sz="1100" dirty="0"/>
          </a:p>
        </p:txBody>
      </p:sp>
      <p:sp>
        <p:nvSpPr>
          <p:cNvPr id="12" name="Text 10"/>
          <p:cNvSpPr/>
          <p:nvPr/>
        </p:nvSpPr>
        <p:spPr>
          <a:xfrm>
            <a:off x="457200" y="3749040"/>
            <a:ext cx="3474720" cy="594360"/>
          </a:xfrm>
          <a:prstGeom prst="rect">
            <a:avLst/>
          </a:prstGeom>
          <a:noFill/>
          <a:ln/>
        </p:spPr>
        <p:txBody>
          <a:bodyPr wrap="square" rtlCol="0" anchor="ctr"/>
          <a:lstStyle/>
          <a:p>
            <a:pPr marL="0" indent="0">
              <a:buNone/>
            </a:pPr>
            <a:r>
              <a:rPr lang="en-US" sz="1100" i="1" dirty="0">
                <a:solidFill>
                  <a:srgbClr val="FF7070"/>
                </a:solidFill>
              </a:rPr>
              <a:t>Key words found:</a:t>
            </a:r>
            <a:endParaRPr lang="en-US" sz="1100" dirty="0"/>
          </a:p>
          <a:p>
            <a:pPr marL="0" indent="0">
              <a:buNone/>
            </a:pPr>
            <a:r>
              <a:rPr lang="en-US" sz="1100" i="1" dirty="0">
                <a:solidFill>
                  <a:srgbClr val="FF7070"/>
                </a:solidFill>
              </a:rPr>
              <a:t>"hopeless, worthless, empty, burden, suicidal, darkness"</a:t>
            </a:r>
            <a:endParaRPr lang="en-US" sz="1100" dirty="0"/>
          </a:p>
        </p:txBody>
      </p:sp>
      <p:sp>
        <p:nvSpPr>
          <p:cNvPr id="13" name="Shape 11"/>
          <p:cNvSpPr/>
          <p:nvPr/>
        </p:nvSpPr>
        <p:spPr>
          <a:xfrm>
            <a:off x="5029200" y="1188720"/>
            <a:ext cx="3840480" cy="3291840"/>
          </a:xfrm>
          <a:prstGeom prst="rect">
            <a:avLst/>
          </a:prstGeom>
          <a:solidFill>
            <a:srgbClr val="003B1A"/>
          </a:solidFill>
          <a:ln w="12700">
            <a:solidFill>
              <a:srgbClr val="00C853"/>
            </a:solidFill>
            <a:prstDash val="solid"/>
          </a:ln>
        </p:spPr>
      </p:sp>
      <p:sp>
        <p:nvSpPr>
          <p:cNvPr id="14" name="Shape 12"/>
          <p:cNvSpPr/>
          <p:nvPr/>
        </p:nvSpPr>
        <p:spPr>
          <a:xfrm>
            <a:off x="5029200" y="1188720"/>
            <a:ext cx="3840480" cy="502920"/>
          </a:xfrm>
          <a:prstGeom prst="rect">
            <a:avLst/>
          </a:prstGeom>
          <a:solidFill>
            <a:srgbClr val="00C853"/>
          </a:solidFill>
          <a:ln w="12700">
            <a:solidFill>
              <a:srgbClr val="00C853"/>
            </a:solidFill>
            <a:prstDash val="solid"/>
          </a:ln>
        </p:spPr>
      </p:sp>
      <p:sp>
        <p:nvSpPr>
          <p:cNvPr id="15" name="Text 13"/>
          <p:cNvSpPr/>
          <p:nvPr/>
        </p:nvSpPr>
        <p:spPr>
          <a:xfrm>
            <a:off x="5120640" y="1234440"/>
            <a:ext cx="3657600" cy="365760"/>
          </a:xfrm>
          <a:prstGeom prst="rect">
            <a:avLst/>
          </a:prstGeom>
          <a:noFill/>
          <a:ln/>
        </p:spPr>
        <p:txBody>
          <a:bodyPr wrap="square" rtlCol="0" anchor="ctr"/>
          <a:lstStyle/>
          <a:p>
            <a:pPr marL="0" indent="0">
              <a:buNone/>
            </a:pPr>
            <a:r>
              <a:rPr lang="en-US" sz="1300" b="1" dirty="0">
                <a:solidFill>
                  <a:srgbClr val="1A1A2E"/>
                </a:solidFill>
              </a:rPr>
              <a:t>🟢  NOT DEPRESSED  (Label = 0)</a:t>
            </a:r>
            <a:endParaRPr lang="en-US" sz="1300" dirty="0"/>
          </a:p>
        </p:txBody>
      </p:sp>
      <p:sp>
        <p:nvSpPr>
          <p:cNvPr id="16" name="Text 14"/>
          <p:cNvSpPr/>
          <p:nvPr/>
        </p:nvSpPr>
        <p:spPr>
          <a:xfrm>
            <a:off x="5166360" y="1828800"/>
            <a:ext cx="3566160" cy="228600"/>
          </a:xfrm>
          <a:prstGeom prst="rect">
            <a:avLst/>
          </a:prstGeom>
          <a:noFill/>
          <a:ln/>
        </p:spPr>
        <p:txBody>
          <a:bodyPr wrap="square" rtlCol="0" anchor="ctr"/>
          <a:lstStyle/>
          <a:p>
            <a:pPr marL="0" indent="0">
              <a:buNone/>
            </a:pPr>
            <a:r>
              <a:rPr lang="en-US" sz="1300" b="1" dirty="0">
                <a:solidFill>
                  <a:srgbClr val="00C853"/>
                </a:solidFill>
              </a:rPr>
              <a:t>r/teenagers</a:t>
            </a:r>
            <a:endParaRPr lang="en-US" sz="1300" dirty="0"/>
          </a:p>
        </p:txBody>
      </p:sp>
      <p:sp>
        <p:nvSpPr>
          <p:cNvPr id="17" name="Text 15"/>
          <p:cNvSpPr/>
          <p:nvPr/>
        </p:nvSpPr>
        <p:spPr>
          <a:xfrm>
            <a:off x="5166360" y="2057400"/>
            <a:ext cx="3566160" cy="347472"/>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School life, gaming, friendships — normal everyday teenage things</a:t>
            </a:r>
            <a:endParaRPr lang="en-US" sz="1100" dirty="0"/>
          </a:p>
        </p:txBody>
      </p:sp>
      <p:sp>
        <p:nvSpPr>
          <p:cNvPr id="18" name="Text 16"/>
          <p:cNvSpPr/>
          <p:nvPr/>
        </p:nvSpPr>
        <p:spPr>
          <a:xfrm>
            <a:off x="5166360" y="2468880"/>
            <a:ext cx="3566160" cy="228600"/>
          </a:xfrm>
          <a:prstGeom prst="rect">
            <a:avLst/>
          </a:prstGeom>
          <a:noFill/>
          <a:ln/>
        </p:spPr>
        <p:txBody>
          <a:bodyPr wrap="square" rtlCol="0" anchor="ctr"/>
          <a:lstStyle/>
          <a:p>
            <a:pPr marL="0" indent="0">
              <a:buNone/>
            </a:pPr>
            <a:r>
              <a:rPr lang="en-US" sz="1300" b="1" dirty="0">
                <a:solidFill>
                  <a:srgbClr val="00C853"/>
                </a:solidFill>
              </a:rPr>
              <a:t>r/Happy</a:t>
            </a:r>
            <a:endParaRPr lang="en-US" sz="1300" dirty="0"/>
          </a:p>
        </p:txBody>
      </p:sp>
      <p:sp>
        <p:nvSpPr>
          <p:cNvPr id="19" name="Text 17"/>
          <p:cNvSpPr/>
          <p:nvPr/>
        </p:nvSpPr>
        <p:spPr>
          <a:xfrm>
            <a:off x="5166360" y="2697480"/>
            <a:ext cx="3566160" cy="347472"/>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Positive experiences, gratitude, joyful moments, good news</a:t>
            </a:r>
            <a:endParaRPr lang="en-US" sz="1100" dirty="0"/>
          </a:p>
        </p:txBody>
      </p:sp>
      <p:sp>
        <p:nvSpPr>
          <p:cNvPr id="20" name="Text 18"/>
          <p:cNvSpPr/>
          <p:nvPr/>
        </p:nvSpPr>
        <p:spPr>
          <a:xfrm>
            <a:off x="5166360" y="3108960"/>
            <a:ext cx="3566160" cy="228600"/>
          </a:xfrm>
          <a:prstGeom prst="rect">
            <a:avLst/>
          </a:prstGeom>
          <a:noFill/>
          <a:ln/>
        </p:spPr>
        <p:txBody>
          <a:bodyPr wrap="square" rtlCol="0" anchor="ctr"/>
          <a:lstStyle/>
          <a:p>
            <a:pPr marL="0" indent="0">
              <a:buNone/>
            </a:pPr>
            <a:r>
              <a:rPr lang="en-US" sz="1300" b="1" dirty="0">
                <a:solidFill>
                  <a:srgbClr val="00C853"/>
                </a:solidFill>
              </a:rPr>
              <a:t>r/DeepThoughts</a:t>
            </a:r>
            <a:endParaRPr lang="en-US" sz="1300" dirty="0"/>
          </a:p>
        </p:txBody>
      </p:sp>
      <p:sp>
        <p:nvSpPr>
          <p:cNvPr id="21" name="Text 19"/>
          <p:cNvSpPr/>
          <p:nvPr/>
        </p:nvSpPr>
        <p:spPr>
          <a:xfrm>
            <a:off x="5166360" y="3337560"/>
            <a:ext cx="3566160" cy="347472"/>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Philosophical curiosity and neutral reflection (not emotional distress)</a:t>
            </a:r>
            <a:endParaRPr lang="en-US" sz="1100" dirty="0"/>
          </a:p>
        </p:txBody>
      </p:sp>
      <p:sp>
        <p:nvSpPr>
          <p:cNvPr id="22" name="Text 20"/>
          <p:cNvSpPr/>
          <p:nvPr/>
        </p:nvSpPr>
        <p:spPr>
          <a:xfrm>
            <a:off x="5166360" y="3749040"/>
            <a:ext cx="3474720" cy="594360"/>
          </a:xfrm>
          <a:prstGeom prst="rect">
            <a:avLst/>
          </a:prstGeom>
          <a:noFill/>
          <a:ln/>
        </p:spPr>
        <p:txBody>
          <a:bodyPr wrap="square" rtlCol="0" anchor="ctr"/>
          <a:lstStyle/>
          <a:p>
            <a:pPr marL="0" indent="0">
              <a:buNone/>
            </a:pPr>
            <a:r>
              <a:rPr lang="en-US" sz="1100" i="1" dirty="0">
                <a:solidFill>
                  <a:srgbClr val="80FF80"/>
                </a:solidFill>
              </a:rPr>
              <a:t>Key words found:</a:t>
            </a:r>
            <a:endParaRPr lang="en-US" sz="1100" dirty="0"/>
          </a:p>
          <a:p>
            <a:pPr marL="0" indent="0">
              <a:buNone/>
            </a:pPr>
            <a:r>
              <a:rPr lang="en-US" sz="1100" i="1" dirty="0">
                <a:solidFill>
                  <a:srgbClr val="80FF80"/>
                </a:solidFill>
              </a:rPr>
              <a:t>"excited, happy, grateful, fun, gaming, blessed"</a:t>
            </a:r>
            <a:endParaRPr lang="en-US" sz="1100" dirty="0"/>
          </a:p>
        </p:txBody>
      </p:sp>
      <p:sp>
        <p:nvSpPr>
          <p:cNvPr id="23" name="Shape 21"/>
          <p:cNvSpPr/>
          <p:nvPr/>
        </p:nvSpPr>
        <p:spPr>
          <a:xfrm>
            <a:off x="4160520" y="2194560"/>
            <a:ext cx="822960" cy="822960"/>
          </a:xfrm>
          <a:prstGeom prst="ellipse">
            <a:avLst/>
          </a:prstGeom>
          <a:solidFill>
            <a:srgbClr val="FFD600"/>
          </a:solidFill>
          <a:ln w="12700">
            <a:solidFill>
              <a:srgbClr val="FFD600"/>
            </a:solidFill>
            <a:prstDash val="solid"/>
          </a:ln>
        </p:spPr>
      </p:sp>
      <p:sp>
        <p:nvSpPr>
          <p:cNvPr id="24" name="Text 22"/>
          <p:cNvSpPr/>
          <p:nvPr/>
        </p:nvSpPr>
        <p:spPr>
          <a:xfrm>
            <a:off x="4160520" y="2194560"/>
            <a:ext cx="822960" cy="822960"/>
          </a:xfrm>
          <a:prstGeom prst="rect">
            <a:avLst/>
          </a:prstGeom>
          <a:noFill/>
          <a:ln/>
        </p:spPr>
        <p:txBody>
          <a:bodyPr wrap="square" rtlCol="0" anchor="ctr"/>
          <a:lstStyle/>
          <a:p>
            <a:pPr marL="0" indent="0" algn="ctr">
              <a:buNone/>
            </a:pPr>
            <a:r>
              <a:rPr lang="en-US" sz="1400" b="1" dirty="0">
                <a:solidFill>
                  <a:srgbClr val="1A1A2E"/>
                </a:solidFill>
              </a:rPr>
              <a:t>VS</a:t>
            </a:r>
            <a:endParaRPr lang="en-US" sz="1400" dirty="0"/>
          </a:p>
        </p:txBody>
      </p:sp>
      <p:sp>
        <p:nvSpPr>
          <p:cNvPr id="25" name="Text 23"/>
          <p:cNvSpPr/>
          <p:nvPr/>
        </p:nvSpPr>
        <p:spPr>
          <a:xfrm>
            <a:off x="868680" y="4784092"/>
            <a:ext cx="8229600" cy="320040"/>
          </a:xfrm>
          <a:prstGeom prst="rect">
            <a:avLst/>
          </a:prstGeom>
          <a:noFill/>
          <a:ln/>
        </p:spPr>
        <p:txBody>
          <a:bodyPr wrap="square" rtlCol="0" anchor="ctr"/>
          <a:lstStyle/>
          <a:p>
            <a:pPr marL="0" indent="0" algn="ctr">
              <a:buNone/>
            </a:pPr>
            <a:endParaRPr lang="en-US" sz="1100" dirty="0"/>
          </a:p>
        </p:txBody>
      </p:sp>
      <p:sp>
        <p:nvSpPr>
          <p:cNvPr id="26" name="Rectangle 1">
            <a:extLst>
              <a:ext uri="{FF2B5EF4-FFF2-40B4-BE49-F238E27FC236}">
                <a16:creationId xmlns:a16="http://schemas.microsoft.com/office/drawing/2014/main" id="{000A7158-C5D4-21A5-04D7-06C4743FE9DD}"/>
              </a:ext>
            </a:extLst>
          </p:cNvPr>
          <p:cNvSpPr>
            <a:spLocks noChangeArrowheads="1"/>
          </p:cNvSpPr>
          <p:nvPr/>
        </p:nvSpPr>
        <p:spPr bwMode="auto">
          <a:xfrm>
            <a:off x="868680" y="4562600"/>
            <a:ext cx="713368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100" i="0" u="none" strike="noStrike" cap="none" normalizeH="0" baseline="0" dirty="0">
                <a:ln>
                  <a:noFill/>
                </a:ln>
                <a:solidFill>
                  <a:schemeClr val="bg1"/>
                </a:solidFill>
                <a:effectLst/>
                <a:latin typeface="Arial" panose="020B0604020202020204" pitchFamily="34" charset="0"/>
              </a:rPr>
              <a:t>The dataset contains 831,138 posts after preprocessing.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100" i="0" u="none" strike="noStrike" cap="none" normalizeH="0" baseline="0" dirty="0">
                <a:ln>
                  <a:noFill/>
                </a:ln>
                <a:solidFill>
                  <a:schemeClr val="bg1"/>
                </a:solidFill>
                <a:effectLst/>
                <a:latin typeface="Arial" panose="020B0604020202020204" pitchFamily="34" charset="0"/>
              </a:rPr>
              <a:t>The data is split into 80% training (664,993 posts), 10% validation (83,031 posts), and 10% test (83,114 posts).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10925"/>
            <a:ext cx="9144000" cy="502920"/>
          </a:xfrm>
          <a:prstGeom prst="rect">
            <a:avLst/>
          </a:prstGeom>
          <a:solidFill>
            <a:srgbClr val="00897B"/>
          </a:solidFill>
          <a:ln w="12700">
            <a:solidFill>
              <a:srgbClr val="00897B"/>
            </a:solidFill>
            <a:prstDash val="solid"/>
          </a:ln>
        </p:spPr>
      </p:sp>
      <p:sp>
        <p:nvSpPr>
          <p:cNvPr id="3" name="Text 1"/>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HOW THE SYSTEM WORKS — 4 SIMPLE STEPS</a:t>
            </a:r>
            <a:endParaRPr lang="en-US" sz="1800" dirty="0"/>
          </a:p>
        </p:txBody>
      </p:sp>
      <p:sp>
        <p:nvSpPr>
          <p:cNvPr id="4" name="Text 2"/>
          <p:cNvSpPr/>
          <p:nvPr/>
        </p:nvSpPr>
        <p:spPr>
          <a:xfrm>
            <a:off x="80682" y="594360"/>
            <a:ext cx="8229600" cy="320040"/>
          </a:xfrm>
          <a:prstGeom prst="rect">
            <a:avLst/>
          </a:prstGeom>
          <a:noFill/>
          <a:ln/>
        </p:spPr>
        <p:txBody>
          <a:bodyPr wrap="square" rtlCol="0" anchor="ctr"/>
          <a:lstStyle/>
          <a:p>
            <a:pPr marL="0" indent="0" algn="ctr">
              <a:buNone/>
            </a:pPr>
            <a:r>
              <a:rPr lang="en-US" sz="1300" dirty="0">
                <a:solidFill>
                  <a:srgbClr val="1A1A2E"/>
                </a:solidFill>
              </a:rPr>
              <a:t>From a raw Reddit post to a final prediction — here is the journey of the data:</a:t>
            </a:r>
            <a:endParaRPr lang="en-US" sz="1300" dirty="0"/>
          </a:p>
        </p:txBody>
      </p:sp>
      <p:sp>
        <p:nvSpPr>
          <p:cNvPr id="5" name="Shape 3"/>
          <p:cNvSpPr/>
          <p:nvPr/>
        </p:nvSpPr>
        <p:spPr>
          <a:xfrm>
            <a:off x="201168" y="1005840"/>
            <a:ext cx="2103120" cy="3657600"/>
          </a:xfrm>
          <a:prstGeom prst="rect">
            <a:avLst/>
          </a:prstGeom>
          <a:solidFill>
            <a:srgbClr val="FFFFFF"/>
          </a:solidFill>
          <a:ln w="12700">
            <a:solidFill>
              <a:srgbClr val="1565C0"/>
            </a:solidFill>
            <a:prstDash val="solid"/>
          </a:ln>
        </p:spPr>
      </p:sp>
      <p:sp>
        <p:nvSpPr>
          <p:cNvPr id="6" name="Shape 4"/>
          <p:cNvSpPr/>
          <p:nvPr/>
        </p:nvSpPr>
        <p:spPr>
          <a:xfrm>
            <a:off x="182880" y="1005840"/>
            <a:ext cx="2103120" cy="502920"/>
          </a:xfrm>
          <a:prstGeom prst="rect">
            <a:avLst/>
          </a:prstGeom>
          <a:solidFill>
            <a:srgbClr val="1565C0"/>
          </a:solidFill>
          <a:ln w="12700">
            <a:solidFill>
              <a:srgbClr val="1565C0"/>
            </a:solidFill>
            <a:prstDash val="solid"/>
          </a:ln>
        </p:spPr>
      </p:sp>
      <p:sp>
        <p:nvSpPr>
          <p:cNvPr id="7" name="Text 5"/>
          <p:cNvSpPr/>
          <p:nvPr/>
        </p:nvSpPr>
        <p:spPr>
          <a:xfrm>
            <a:off x="228600" y="1051560"/>
            <a:ext cx="2011680" cy="411480"/>
          </a:xfrm>
          <a:prstGeom prst="rect">
            <a:avLst/>
          </a:prstGeom>
          <a:noFill/>
          <a:ln/>
        </p:spPr>
        <p:txBody>
          <a:bodyPr wrap="square" rtlCol="0" anchor="ctr"/>
          <a:lstStyle/>
          <a:p>
            <a:pPr marL="0" indent="0" algn="ctr">
              <a:buNone/>
            </a:pPr>
            <a:r>
              <a:rPr lang="en-US" sz="1150" b="1" dirty="0">
                <a:solidFill>
                  <a:srgbClr val="FFFFFF"/>
                </a:solidFill>
              </a:rPr>
              <a:t>Step 1: Collect &amp; Label</a:t>
            </a:r>
            <a:endParaRPr lang="en-US" sz="1150" dirty="0"/>
          </a:p>
        </p:txBody>
      </p:sp>
      <p:sp>
        <p:nvSpPr>
          <p:cNvPr id="8" name="Text 6"/>
          <p:cNvSpPr/>
          <p:nvPr/>
        </p:nvSpPr>
        <p:spPr>
          <a:xfrm>
            <a:off x="256032" y="1600200"/>
            <a:ext cx="1965960" cy="594360"/>
          </a:xfrm>
          <a:prstGeom prst="rect">
            <a:avLst/>
          </a:prstGeom>
          <a:noFill/>
          <a:ln/>
        </p:spPr>
        <p:txBody>
          <a:bodyPr wrap="square" rtlCol="0" anchor="ctr"/>
          <a:lstStyle/>
          <a:p>
            <a:pPr marL="0" indent="0" algn="ctr">
              <a:buNone/>
            </a:pPr>
            <a:endParaRPr lang="en-US" sz="1100" dirty="0"/>
          </a:p>
        </p:txBody>
      </p:sp>
      <p:sp>
        <p:nvSpPr>
          <p:cNvPr id="10" name="Text 8"/>
          <p:cNvSpPr/>
          <p:nvPr/>
        </p:nvSpPr>
        <p:spPr>
          <a:xfrm>
            <a:off x="274320" y="2331720"/>
            <a:ext cx="1920240" cy="2194560"/>
          </a:xfrm>
          <a:prstGeom prst="rect">
            <a:avLst/>
          </a:prstGeom>
          <a:noFill/>
          <a:ln/>
        </p:spPr>
        <p:txBody>
          <a:bodyPr wrap="square" rtlCol="0" anchor="ctr"/>
          <a:lstStyle/>
          <a:p>
            <a:pPr marL="0" indent="0">
              <a:buNone/>
            </a:pPr>
            <a:endParaRPr lang="en-US" sz="900" dirty="0"/>
          </a:p>
        </p:txBody>
      </p:sp>
      <p:sp>
        <p:nvSpPr>
          <p:cNvPr id="11" name="Shape 9"/>
          <p:cNvSpPr/>
          <p:nvPr/>
        </p:nvSpPr>
        <p:spPr>
          <a:xfrm>
            <a:off x="2286000" y="2606040"/>
            <a:ext cx="137160" cy="274320"/>
          </a:xfrm>
          <a:prstGeom prst="rect">
            <a:avLst/>
          </a:prstGeom>
          <a:solidFill>
            <a:srgbClr val="AAAAAA"/>
          </a:solidFill>
          <a:ln w="12700">
            <a:solidFill>
              <a:srgbClr val="AAAAAA"/>
            </a:solidFill>
            <a:prstDash val="solid"/>
          </a:ln>
        </p:spPr>
      </p:sp>
      <p:sp>
        <p:nvSpPr>
          <p:cNvPr id="12" name="Shape 10"/>
          <p:cNvSpPr/>
          <p:nvPr/>
        </p:nvSpPr>
        <p:spPr>
          <a:xfrm>
            <a:off x="2432301" y="1059629"/>
            <a:ext cx="2103120" cy="3657600"/>
          </a:xfrm>
          <a:prstGeom prst="rect">
            <a:avLst/>
          </a:prstGeom>
          <a:solidFill>
            <a:srgbClr val="FFFFFF"/>
          </a:solidFill>
          <a:ln w="12700">
            <a:solidFill>
              <a:srgbClr val="00897B"/>
            </a:solidFill>
            <a:prstDash val="solid"/>
          </a:ln>
        </p:spPr>
      </p:sp>
      <p:sp>
        <p:nvSpPr>
          <p:cNvPr id="13" name="Shape 11"/>
          <p:cNvSpPr/>
          <p:nvPr/>
        </p:nvSpPr>
        <p:spPr>
          <a:xfrm>
            <a:off x="2423160" y="1005840"/>
            <a:ext cx="2103120" cy="502920"/>
          </a:xfrm>
          <a:prstGeom prst="rect">
            <a:avLst/>
          </a:prstGeom>
          <a:solidFill>
            <a:srgbClr val="00897B"/>
          </a:solidFill>
          <a:ln w="12700">
            <a:solidFill>
              <a:srgbClr val="00897B"/>
            </a:solidFill>
            <a:prstDash val="solid"/>
          </a:ln>
        </p:spPr>
      </p:sp>
      <p:sp>
        <p:nvSpPr>
          <p:cNvPr id="14" name="Text 12"/>
          <p:cNvSpPr/>
          <p:nvPr/>
        </p:nvSpPr>
        <p:spPr>
          <a:xfrm>
            <a:off x="2468880" y="1051560"/>
            <a:ext cx="2011680" cy="411480"/>
          </a:xfrm>
          <a:prstGeom prst="rect">
            <a:avLst/>
          </a:prstGeom>
          <a:noFill/>
          <a:ln/>
        </p:spPr>
        <p:txBody>
          <a:bodyPr wrap="square" rtlCol="0" anchor="ctr"/>
          <a:lstStyle/>
          <a:p>
            <a:pPr marL="0" indent="0" algn="ctr">
              <a:buNone/>
            </a:pPr>
            <a:r>
              <a:rPr lang="en-US" sz="1150" b="1" dirty="0">
                <a:solidFill>
                  <a:srgbClr val="FFFFFF"/>
                </a:solidFill>
              </a:rPr>
              <a:t>Step 2: Clean the Text</a:t>
            </a:r>
            <a:endParaRPr lang="en-US" sz="1150" dirty="0"/>
          </a:p>
        </p:txBody>
      </p:sp>
      <p:sp>
        <p:nvSpPr>
          <p:cNvPr id="15" name="Text 13"/>
          <p:cNvSpPr/>
          <p:nvPr/>
        </p:nvSpPr>
        <p:spPr>
          <a:xfrm>
            <a:off x="2496312" y="1600200"/>
            <a:ext cx="1965960" cy="594360"/>
          </a:xfrm>
          <a:prstGeom prst="rect">
            <a:avLst/>
          </a:prstGeom>
          <a:noFill/>
          <a:ln/>
        </p:spPr>
        <p:txBody>
          <a:bodyPr wrap="square" rtlCol="0" anchor="ctr"/>
          <a:lstStyle/>
          <a:p>
            <a:pPr marL="0" indent="0" algn="ctr">
              <a:buNone/>
            </a:pPr>
            <a:endParaRPr lang="en-US" sz="1100" dirty="0"/>
          </a:p>
        </p:txBody>
      </p:sp>
      <p:sp>
        <p:nvSpPr>
          <p:cNvPr id="17" name="Text 15"/>
          <p:cNvSpPr/>
          <p:nvPr/>
        </p:nvSpPr>
        <p:spPr>
          <a:xfrm>
            <a:off x="2514600" y="2331720"/>
            <a:ext cx="1920240" cy="2194560"/>
          </a:xfrm>
          <a:prstGeom prst="rect">
            <a:avLst/>
          </a:prstGeom>
          <a:noFill/>
          <a:ln/>
        </p:spPr>
        <p:txBody>
          <a:bodyPr wrap="square" rtlCol="0" anchor="ctr"/>
          <a:lstStyle/>
          <a:p>
            <a:pPr marL="0" indent="0">
              <a:buNone/>
            </a:pPr>
            <a:endParaRPr lang="en-US" sz="1000" dirty="0"/>
          </a:p>
        </p:txBody>
      </p:sp>
      <p:sp>
        <p:nvSpPr>
          <p:cNvPr id="18" name="Shape 16"/>
          <p:cNvSpPr/>
          <p:nvPr/>
        </p:nvSpPr>
        <p:spPr>
          <a:xfrm>
            <a:off x="4526280" y="2606040"/>
            <a:ext cx="137160" cy="274320"/>
          </a:xfrm>
          <a:prstGeom prst="rect">
            <a:avLst/>
          </a:prstGeom>
          <a:solidFill>
            <a:srgbClr val="AAAAAA"/>
          </a:solidFill>
          <a:ln w="12700">
            <a:solidFill>
              <a:srgbClr val="AAAAAA"/>
            </a:solidFill>
            <a:prstDash val="solid"/>
          </a:ln>
        </p:spPr>
      </p:sp>
      <p:sp>
        <p:nvSpPr>
          <p:cNvPr id="19" name="Shape 17"/>
          <p:cNvSpPr/>
          <p:nvPr/>
        </p:nvSpPr>
        <p:spPr>
          <a:xfrm>
            <a:off x="4663439" y="1040635"/>
            <a:ext cx="3320271" cy="3657600"/>
          </a:xfrm>
          <a:prstGeom prst="rect">
            <a:avLst/>
          </a:prstGeom>
          <a:solidFill>
            <a:srgbClr val="FFFFFF"/>
          </a:solidFill>
          <a:ln w="12700">
            <a:solidFill>
              <a:srgbClr val="533483"/>
            </a:solidFill>
            <a:prstDash val="solid"/>
          </a:ln>
        </p:spPr>
        <p:txBody>
          <a:bodyPr/>
          <a:lstStyle/>
          <a:p>
            <a:endParaRPr lang="en-IN" dirty="0"/>
          </a:p>
        </p:txBody>
      </p:sp>
      <p:sp>
        <p:nvSpPr>
          <p:cNvPr id="20" name="Shape 18"/>
          <p:cNvSpPr/>
          <p:nvPr/>
        </p:nvSpPr>
        <p:spPr>
          <a:xfrm>
            <a:off x="4663438" y="1030976"/>
            <a:ext cx="3320270" cy="502920"/>
          </a:xfrm>
          <a:prstGeom prst="rect">
            <a:avLst/>
          </a:prstGeom>
          <a:solidFill>
            <a:srgbClr val="533483"/>
          </a:solidFill>
          <a:ln w="12700">
            <a:solidFill>
              <a:srgbClr val="533483"/>
            </a:solidFill>
            <a:prstDash val="solid"/>
          </a:ln>
        </p:spPr>
      </p:sp>
      <p:sp>
        <p:nvSpPr>
          <p:cNvPr id="21" name="Text 19"/>
          <p:cNvSpPr/>
          <p:nvPr/>
        </p:nvSpPr>
        <p:spPr>
          <a:xfrm>
            <a:off x="4663436" y="1142833"/>
            <a:ext cx="3320271" cy="411480"/>
          </a:xfrm>
          <a:prstGeom prst="rect">
            <a:avLst/>
          </a:prstGeom>
          <a:noFill/>
          <a:ln/>
        </p:spPr>
        <p:txBody>
          <a:bodyPr wrap="square" rtlCol="0" anchor="ctr"/>
          <a:lstStyle/>
          <a:p>
            <a:pPr algn="ctr"/>
            <a:r>
              <a:rPr lang="en-US" sz="1150" b="1" dirty="0">
                <a:solidFill>
                  <a:srgbClr val="FFFFFF"/>
                </a:solidFill>
              </a:rPr>
              <a:t>Step 3:</a:t>
            </a:r>
            <a:r>
              <a:rPr lang="en-IN" sz="1100" b="1" dirty="0">
                <a:solidFill>
                  <a:schemeClr val="bg1"/>
                </a:solidFill>
              </a:rPr>
              <a:t>BERT Fine‑Tuning</a:t>
            </a:r>
          </a:p>
          <a:p>
            <a:pPr marL="0" indent="0" algn="ctr">
              <a:buNone/>
            </a:pPr>
            <a:endParaRPr lang="en-US" sz="1150" dirty="0"/>
          </a:p>
        </p:txBody>
      </p:sp>
      <p:sp>
        <p:nvSpPr>
          <p:cNvPr id="22" name="Text 20"/>
          <p:cNvSpPr/>
          <p:nvPr/>
        </p:nvSpPr>
        <p:spPr>
          <a:xfrm>
            <a:off x="4736592" y="1600200"/>
            <a:ext cx="1965960" cy="594360"/>
          </a:xfrm>
          <a:prstGeom prst="rect">
            <a:avLst/>
          </a:prstGeom>
          <a:noFill/>
          <a:ln/>
        </p:spPr>
        <p:txBody>
          <a:bodyPr wrap="square" rtlCol="0" anchor="ctr"/>
          <a:lstStyle/>
          <a:p>
            <a:pPr marL="0" indent="0" algn="ctr">
              <a:buNone/>
            </a:pPr>
            <a:endParaRPr lang="en-US" sz="1100" dirty="0"/>
          </a:p>
        </p:txBody>
      </p:sp>
      <p:sp>
        <p:nvSpPr>
          <p:cNvPr id="24" name="Text 22"/>
          <p:cNvSpPr/>
          <p:nvPr/>
        </p:nvSpPr>
        <p:spPr>
          <a:xfrm>
            <a:off x="4754880" y="2331720"/>
            <a:ext cx="1920240" cy="2194560"/>
          </a:xfrm>
          <a:prstGeom prst="rect">
            <a:avLst/>
          </a:prstGeom>
          <a:noFill/>
          <a:ln/>
        </p:spPr>
        <p:txBody>
          <a:bodyPr wrap="square" rtlCol="0" anchor="ctr"/>
          <a:lstStyle/>
          <a:p>
            <a:pPr marL="0" indent="0">
              <a:buNone/>
            </a:pPr>
            <a:endParaRPr lang="en-US" sz="1000" dirty="0"/>
          </a:p>
        </p:txBody>
      </p:sp>
      <p:sp>
        <p:nvSpPr>
          <p:cNvPr id="28" name="Text 26"/>
          <p:cNvSpPr/>
          <p:nvPr/>
        </p:nvSpPr>
        <p:spPr>
          <a:xfrm>
            <a:off x="6949440" y="1051560"/>
            <a:ext cx="2011680" cy="411480"/>
          </a:xfrm>
          <a:prstGeom prst="rect">
            <a:avLst/>
          </a:prstGeom>
          <a:noFill/>
          <a:ln/>
        </p:spPr>
        <p:txBody>
          <a:bodyPr wrap="square" rtlCol="0" anchor="ctr"/>
          <a:lstStyle/>
          <a:p>
            <a:pPr marL="0" indent="0" algn="ctr">
              <a:buNone/>
            </a:pPr>
            <a:endParaRPr lang="en-US" sz="1150" dirty="0"/>
          </a:p>
        </p:txBody>
      </p:sp>
      <p:sp>
        <p:nvSpPr>
          <p:cNvPr id="29" name="Text 27"/>
          <p:cNvSpPr/>
          <p:nvPr/>
        </p:nvSpPr>
        <p:spPr>
          <a:xfrm>
            <a:off x="6976872" y="1600200"/>
            <a:ext cx="1965960" cy="594360"/>
          </a:xfrm>
          <a:prstGeom prst="rect">
            <a:avLst/>
          </a:prstGeom>
          <a:noFill/>
          <a:ln/>
        </p:spPr>
        <p:txBody>
          <a:bodyPr wrap="square" rtlCol="0" anchor="ctr"/>
          <a:lstStyle/>
          <a:p>
            <a:pPr marL="0" indent="0" algn="ctr">
              <a:buNone/>
            </a:pPr>
            <a:endParaRPr lang="en-US" sz="1100" dirty="0"/>
          </a:p>
        </p:txBody>
      </p:sp>
      <p:sp>
        <p:nvSpPr>
          <p:cNvPr id="31" name="Text 29"/>
          <p:cNvSpPr/>
          <p:nvPr/>
        </p:nvSpPr>
        <p:spPr>
          <a:xfrm>
            <a:off x="6999002" y="1771362"/>
            <a:ext cx="1920240" cy="2194560"/>
          </a:xfrm>
          <a:prstGeom prst="rect">
            <a:avLst/>
          </a:prstGeom>
          <a:noFill/>
          <a:ln/>
        </p:spPr>
        <p:txBody>
          <a:bodyPr wrap="square" rtlCol="0" anchor="ctr"/>
          <a:lstStyle/>
          <a:p>
            <a:pPr marL="171450" indent="-171450">
              <a:buFont typeface="Arial" panose="020B0604020202020204" pitchFamily="34" charset="0"/>
              <a:buChar char="•"/>
            </a:pPr>
            <a:endParaRPr lang="en-US" sz="1050" dirty="0"/>
          </a:p>
        </p:txBody>
      </p:sp>
      <p:sp>
        <p:nvSpPr>
          <p:cNvPr id="32" name="Shape 30"/>
          <p:cNvSpPr/>
          <p:nvPr/>
        </p:nvSpPr>
        <p:spPr>
          <a:xfrm>
            <a:off x="182880" y="4800600"/>
            <a:ext cx="8778240" cy="320040"/>
          </a:xfrm>
          <a:prstGeom prst="rect">
            <a:avLst/>
          </a:prstGeom>
          <a:solidFill>
            <a:srgbClr val="00897B"/>
          </a:solidFill>
          <a:ln w="12700">
            <a:solidFill>
              <a:srgbClr val="00897B"/>
            </a:solidFill>
            <a:prstDash val="solid"/>
          </a:ln>
        </p:spPr>
      </p:sp>
      <p:sp>
        <p:nvSpPr>
          <p:cNvPr id="33" name="Text 31"/>
          <p:cNvSpPr/>
          <p:nvPr/>
        </p:nvSpPr>
        <p:spPr>
          <a:xfrm>
            <a:off x="274320" y="4828032"/>
            <a:ext cx="8595360" cy="256032"/>
          </a:xfrm>
          <a:prstGeom prst="rect">
            <a:avLst/>
          </a:prstGeom>
          <a:noFill/>
          <a:ln/>
        </p:spPr>
        <p:txBody>
          <a:bodyPr wrap="square" rtlCol="0" anchor="ctr"/>
          <a:lstStyle/>
          <a:p>
            <a:pPr marL="0" indent="0" algn="ctr">
              <a:buNone/>
            </a:pPr>
            <a:r>
              <a:rPr lang="en-US" sz="1200" b="1" dirty="0">
                <a:solidFill>
                  <a:srgbClr val="FFFFFF"/>
                </a:solidFill>
              </a:rPr>
              <a:t>Final Output: The AI says → DEPRESSED or NOT DEPRESSED (with a confidence percentage)</a:t>
            </a:r>
            <a:endParaRPr lang="en-US" sz="1200" dirty="0"/>
          </a:p>
        </p:txBody>
      </p:sp>
      <p:sp>
        <p:nvSpPr>
          <p:cNvPr id="34" name="Rectangle 1">
            <a:extLst>
              <a:ext uri="{FF2B5EF4-FFF2-40B4-BE49-F238E27FC236}">
                <a16:creationId xmlns:a16="http://schemas.microsoft.com/office/drawing/2014/main" id="{2E9EB689-C25C-879E-A855-C2462F14FC78}"/>
              </a:ext>
            </a:extLst>
          </p:cNvPr>
          <p:cNvSpPr>
            <a:spLocks noChangeArrowheads="1"/>
          </p:cNvSpPr>
          <p:nvPr/>
        </p:nvSpPr>
        <p:spPr bwMode="auto">
          <a:xfrm>
            <a:off x="297180" y="1709928"/>
            <a:ext cx="1965960"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050" i="0" u="none" strike="noStrike" cap="none" normalizeH="0" baseline="0" dirty="0">
                <a:ln>
                  <a:noFill/>
                </a:ln>
                <a:effectLst/>
                <a:latin typeface="Arial" panose="020B0604020202020204" pitchFamily="34" charset="0"/>
              </a:rPr>
              <a:t>Reddit posts were collected from 6 subreddits: </a:t>
            </a:r>
            <a:r>
              <a:rPr kumimoji="0" lang="en-US" altLang="en-US" sz="1050" i="1" u="none" strike="noStrike" cap="none" normalizeH="0" baseline="0" dirty="0">
                <a:ln>
                  <a:noFill/>
                </a:ln>
                <a:effectLst/>
                <a:latin typeface="Arial" panose="020B0604020202020204" pitchFamily="34" charset="0"/>
              </a:rPr>
              <a:t>depression</a:t>
            </a:r>
            <a:r>
              <a:rPr kumimoji="0" lang="en-US" altLang="en-US" sz="1050" i="0" u="none" strike="noStrike" cap="none" normalizeH="0" baseline="0" dirty="0">
                <a:ln>
                  <a:noFill/>
                </a:ln>
                <a:effectLst/>
                <a:latin typeface="Arial" panose="020B0604020202020204" pitchFamily="34" charset="0"/>
              </a:rPr>
              <a:t> and </a:t>
            </a:r>
            <a:r>
              <a:rPr kumimoji="0" lang="en-US" altLang="en-US" sz="1050" i="1" u="none" strike="noStrike" cap="none" normalizeH="0" baseline="0" dirty="0" err="1">
                <a:ln>
                  <a:noFill/>
                </a:ln>
                <a:effectLst/>
                <a:latin typeface="Arial" panose="020B0604020202020204" pitchFamily="34" charset="0"/>
              </a:rPr>
              <a:t>suicidewatch</a:t>
            </a:r>
            <a:r>
              <a:rPr kumimoji="0" lang="en-US" altLang="en-US" sz="1050" i="0" u="none" strike="noStrike" cap="none" normalizeH="0" baseline="0" dirty="0">
                <a:ln>
                  <a:noFill/>
                </a:ln>
                <a:effectLst/>
                <a:latin typeface="Arial" panose="020B0604020202020204" pitchFamily="34" charset="0"/>
              </a:rPr>
              <a:t> labelled as depressed (1), and </a:t>
            </a:r>
            <a:r>
              <a:rPr kumimoji="0" lang="en-US" altLang="en-US" sz="1050" i="1" u="none" strike="noStrike" cap="none" normalizeH="0" baseline="0" dirty="0">
                <a:ln>
                  <a:noFill/>
                </a:ln>
                <a:effectLst/>
                <a:latin typeface="Arial" panose="020B0604020202020204" pitchFamily="34" charset="0"/>
              </a:rPr>
              <a:t>teenagers</a:t>
            </a:r>
            <a:r>
              <a:rPr kumimoji="0" lang="en-US" altLang="en-US" sz="1050" i="0" u="none" strike="noStrike" cap="none" normalizeH="0" baseline="0" dirty="0">
                <a:ln>
                  <a:noFill/>
                </a:ln>
                <a:effectLst/>
                <a:latin typeface="Arial" panose="020B0604020202020204" pitchFamily="34" charset="0"/>
              </a:rPr>
              <a:t>, </a:t>
            </a:r>
            <a:r>
              <a:rPr kumimoji="0" lang="en-US" altLang="en-US" sz="1050" i="1" u="none" strike="noStrike" cap="none" normalizeH="0" baseline="0" dirty="0" err="1">
                <a:ln>
                  <a:noFill/>
                </a:ln>
                <a:effectLst/>
                <a:latin typeface="Arial" panose="020B0604020202020204" pitchFamily="34" charset="0"/>
              </a:rPr>
              <a:t>deepthoughts</a:t>
            </a:r>
            <a:r>
              <a:rPr kumimoji="0" lang="en-US" altLang="en-US" sz="1050" i="0" u="none" strike="noStrike" cap="none" normalizeH="0" baseline="0" dirty="0">
                <a:ln>
                  <a:noFill/>
                </a:ln>
                <a:effectLst/>
                <a:latin typeface="Arial" panose="020B0604020202020204" pitchFamily="34" charset="0"/>
              </a:rPr>
              <a:t>, and </a:t>
            </a:r>
            <a:r>
              <a:rPr kumimoji="0" lang="en-US" altLang="en-US" sz="1050" i="1" u="none" strike="noStrike" cap="none" normalizeH="0" baseline="0" dirty="0">
                <a:ln>
                  <a:noFill/>
                </a:ln>
                <a:effectLst/>
                <a:latin typeface="Arial" panose="020B0604020202020204" pitchFamily="34" charset="0"/>
              </a:rPr>
              <a:t>happy</a:t>
            </a:r>
            <a:r>
              <a:rPr kumimoji="0" lang="en-US" altLang="en-US" sz="1050" i="0" u="none" strike="noStrike" cap="none" normalizeH="0" baseline="0" dirty="0">
                <a:ln>
                  <a:noFill/>
                </a:ln>
                <a:effectLst/>
                <a:latin typeface="Arial" panose="020B0604020202020204" pitchFamily="34" charset="0"/>
              </a:rPr>
              <a:t> labelled as not depressed (0).</a:t>
            </a:r>
          </a:p>
          <a:p>
            <a:pPr marL="171450" marR="0" lvl="0" indent="-1714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050" i="0" u="none" strike="noStrike" cap="none" normalizeH="0" baseline="0" dirty="0">
                <a:ln>
                  <a:noFill/>
                </a:ln>
                <a:effectLst/>
                <a:latin typeface="Arial" panose="020B0604020202020204" pitchFamily="34" charset="0"/>
              </a:rPr>
              <a:t>The dataset was balanced to have equal posts in both classes to avoid model bias, resulting in a final cleaned dataset of 831,138 posts.</a:t>
            </a:r>
          </a:p>
        </p:txBody>
      </p:sp>
      <p:sp>
        <p:nvSpPr>
          <p:cNvPr id="35" name="Rectangle 2">
            <a:extLst>
              <a:ext uri="{FF2B5EF4-FFF2-40B4-BE49-F238E27FC236}">
                <a16:creationId xmlns:a16="http://schemas.microsoft.com/office/drawing/2014/main" id="{083EE77B-AAD7-C97A-31D8-FD9B3C39E822}"/>
              </a:ext>
            </a:extLst>
          </p:cNvPr>
          <p:cNvSpPr>
            <a:spLocks noChangeArrowheads="1"/>
          </p:cNvSpPr>
          <p:nvPr/>
        </p:nvSpPr>
        <p:spPr bwMode="auto">
          <a:xfrm>
            <a:off x="2560320" y="1795308"/>
            <a:ext cx="199339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Text Cleaning:</a:t>
            </a:r>
            <a:r>
              <a:rPr kumimoji="0" lang="en-US" altLang="en-US" sz="1050" b="0" i="0" u="none" strike="noStrike" cap="none" normalizeH="0" baseline="0" dirty="0">
                <a:ln>
                  <a:noFill/>
                </a:ln>
                <a:solidFill>
                  <a:schemeClr val="tx1"/>
                </a:solidFill>
                <a:effectLst/>
                <a:latin typeface="Arial" panose="020B0604020202020204" pitchFamily="34" charset="0"/>
              </a:rPr>
              <a:t> Removed URLs, special characters, and Reddit patterns (like </a:t>
            </a:r>
            <a:r>
              <a:rPr kumimoji="0" lang="en-US" altLang="en-US" sz="1050" b="0" i="1" u="none" strike="noStrike" cap="none" normalizeH="0" baseline="0" dirty="0">
                <a:ln>
                  <a:noFill/>
                </a:ln>
                <a:solidFill>
                  <a:schemeClr val="tx1"/>
                </a:solidFill>
                <a:effectLst/>
                <a:latin typeface="Arial" panose="020B0604020202020204" pitchFamily="34" charset="0"/>
              </a:rPr>
              <a:t>u/username</a:t>
            </a:r>
            <a:r>
              <a:rPr kumimoji="0" lang="en-US" altLang="en-US" sz="1050" b="0" i="0" u="none" strike="noStrike" cap="none" normalizeH="0" baseline="0" dirty="0">
                <a:ln>
                  <a:noFill/>
                </a:ln>
                <a:solidFill>
                  <a:schemeClr val="tx1"/>
                </a:solidFill>
                <a:effectLst/>
                <a:latin typeface="Arial" panose="020B0604020202020204" pitchFamily="34" charset="0"/>
              </a:rPr>
              <a:t> and </a:t>
            </a:r>
            <a:r>
              <a:rPr kumimoji="0" lang="en-US" altLang="en-US" sz="1050" b="0" i="1" u="none" strike="noStrike" cap="none" normalizeH="0" baseline="0" dirty="0">
                <a:ln>
                  <a:noFill/>
                </a:ln>
                <a:solidFill>
                  <a:schemeClr val="tx1"/>
                </a:solidFill>
                <a:effectLst/>
                <a:latin typeface="Arial" panose="020B0604020202020204" pitchFamily="34" charset="0"/>
              </a:rPr>
              <a:t>r/subreddit</a:t>
            </a:r>
            <a:r>
              <a:rPr kumimoji="0" lang="en-US" altLang="en-US" sz="1050" b="0" i="0" u="none" strike="noStrike" cap="none" normalizeH="0" baseline="0" dirty="0">
                <a:ln>
                  <a:noFill/>
                </a:ln>
                <a:solidFill>
                  <a:schemeClr val="tx1"/>
                </a:solidFill>
                <a:effectLst/>
                <a:latin typeface="Arial" panose="020B0604020202020204" pitchFamily="34" charset="0"/>
              </a:rPr>
              <a:t>), </a:t>
            </a:r>
          </a:p>
        </p:txBody>
      </p:sp>
      <p:sp>
        <p:nvSpPr>
          <p:cNvPr id="36" name="Rectangle 3">
            <a:extLst>
              <a:ext uri="{FF2B5EF4-FFF2-40B4-BE49-F238E27FC236}">
                <a16:creationId xmlns:a16="http://schemas.microsoft.com/office/drawing/2014/main" id="{A7A7E9C1-533C-F89E-EA32-4BB98CACC758}"/>
              </a:ext>
            </a:extLst>
          </p:cNvPr>
          <p:cNvSpPr>
            <a:spLocks noChangeArrowheads="1"/>
          </p:cNvSpPr>
          <p:nvPr/>
        </p:nvSpPr>
        <p:spPr bwMode="auto">
          <a:xfrm>
            <a:off x="4742082" y="1666170"/>
            <a:ext cx="3162978"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atinLnBrk="1"/>
            <a:r>
              <a:rPr lang="en-US" sz="1100" b="1" dirty="0"/>
              <a:t>Tokenization: </a:t>
            </a:r>
            <a:r>
              <a:rPr lang="en-US" sz="1100" dirty="0"/>
              <a:t>The cleaned text is fed into BERT’s </a:t>
            </a:r>
            <a:r>
              <a:rPr lang="en-US" sz="1100" dirty="0" err="1"/>
              <a:t>WordPiece</a:t>
            </a:r>
            <a:r>
              <a:rPr lang="en-US" sz="1100" dirty="0"/>
              <a:t> tokenizer, which splits words into </a:t>
            </a:r>
            <a:r>
              <a:rPr lang="en-US" sz="1100" dirty="0" err="1"/>
              <a:t>subwords</a:t>
            </a:r>
            <a:r>
              <a:rPr lang="en-US" sz="1100" dirty="0"/>
              <a:t> (e.g., “depressed” → “depress” + “##ed”) and adds special tokens `[CLS]` and `[SEP]`.</a:t>
            </a:r>
          </a:p>
          <a:p>
            <a:pPr latinLnBrk="1"/>
            <a:r>
              <a:rPr lang="en-US" sz="1100" b="1" dirty="0"/>
              <a:t>Embedding: </a:t>
            </a:r>
            <a:r>
              <a:rPr lang="en-US" sz="1100" dirty="0"/>
              <a:t>Each token is mapped to a 768‑dimensional vector from BERT’s pre‑trained embedding table.</a:t>
            </a:r>
          </a:p>
          <a:p>
            <a:pPr latinLnBrk="1"/>
            <a:r>
              <a:rPr lang="en-US" sz="1100" b="1" dirty="0"/>
              <a:t>Transformer Layers: </a:t>
            </a:r>
            <a:r>
              <a:rPr lang="en-US" sz="1100" dirty="0"/>
              <a:t>The vectors pass through 12 transformer layers, where self‑attention captures context and relationships between words.</a:t>
            </a:r>
          </a:p>
          <a:p>
            <a:pPr latinLnBrk="1"/>
            <a:r>
              <a:rPr lang="en-US" sz="1100" b="1" dirty="0"/>
              <a:t>Pooling: </a:t>
            </a:r>
            <a:r>
              <a:rPr lang="en-US" sz="1100" dirty="0"/>
              <a:t>The final hidden state of the `[CLS]` token represents the whole post.</a:t>
            </a:r>
          </a:p>
          <a:p>
            <a:pPr latinLnBrk="1"/>
            <a:r>
              <a:rPr lang="en-US" sz="1100" dirty="0"/>
              <a:t>Classification Head: A small neural network converts this representation into two class scores (depressed / not depressed), and </a:t>
            </a:r>
            <a:r>
              <a:rPr lang="en-US" sz="1100" dirty="0" err="1"/>
              <a:t>softmax</a:t>
            </a:r>
            <a:r>
              <a:rPr lang="en-US" sz="1100" dirty="0"/>
              <a:t> gives a confidence percentage.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897B"/>
          </a:solidFill>
          <a:ln w="12700">
            <a:solidFill>
              <a:srgbClr val="00897B"/>
            </a:solidFill>
            <a:prstDash val="solid"/>
          </a:ln>
        </p:spPr>
      </p:sp>
      <p:sp>
        <p:nvSpPr>
          <p:cNvPr id="3" name="Text 1"/>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a:t>
            </a:r>
            <a:endParaRPr lang="en-US" sz="1800" dirty="0"/>
          </a:p>
        </p:txBody>
      </p:sp>
      <p:sp>
        <p:nvSpPr>
          <p:cNvPr id="6" name="Text 4"/>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sp>
        <p:nvSpPr>
          <p:cNvPr id="7" name="AutoShape 2" descr=", AI generated">
            <a:extLst>
              <a:ext uri="{FF2B5EF4-FFF2-40B4-BE49-F238E27FC236}">
                <a16:creationId xmlns:a16="http://schemas.microsoft.com/office/drawing/2014/main" id="{5D879F5B-FA0E-91A9-06CF-E308480C3D0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BBB3D69D-8605-3CC2-A515-AA6CBC0ADC2E}"/>
              </a:ext>
            </a:extLst>
          </p:cNvPr>
          <p:cNvPicPr>
            <a:picLocks noChangeAspect="1"/>
          </p:cNvPicPr>
          <p:nvPr/>
        </p:nvPicPr>
        <p:blipFill>
          <a:blip r:embed="rId3"/>
          <a:stretch>
            <a:fillRect/>
          </a:stretch>
        </p:blipFill>
        <p:spPr>
          <a:xfrm>
            <a:off x="388620" y="679901"/>
            <a:ext cx="8366760" cy="4171183"/>
          </a:xfrm>
          <a:prstGeom prst="rect">
            <a:avLst/>
          </a:prstGeom>
        </p:spPr>
      </p:pic>
      <p:pic>
        <p:nvPicPr>
          <p:cNvPr id="13" name="Picture 12">
            <a:extLst>
              <a:ext uri="{FF2B5EF4-FFF2-40B4-BE49-F238E27FC236}">
                <a16:creationId xmlns:a16="http://schemas.microsoft.com/office/drawing/2014/main" id="{B472167B-D1BF-205F-532F-7496F4188048}"/>
              </a:ext>
            </a:extLst>
          </p:cNvPr>
          <p:cNvPicPr>
            <a:picLocks noChangeAspect="1"/>
          </p:cNvPicPr>
          <p:nvPr/>
        </p:nvPicPr>
        <p:blipFill>
          <a:blip r:embed="rId4"/>
          <a:stretch>
            <a:fillRect/>
          </a:stretch>
        </p:blipFill>
        <p:spPr>
          <a:xfrm>
            <a:off x="4820966" y="3201667"/>
            <a:ext cx="3774394" cy="314369"/>
          </a:xfrm>
          <a:prstGeom prst="rect">
            <a:avLst/>
          </a:prstGeom>
        </p:spPr>
      </p:pic>
      <p:pic>
        <p:nvPicPr>
          <p:cNvPr id="15" name="Picture 14">
            <a:extLst>
              <a:ext uri="{FF2B5EF4-FFF2-40B4-BE49-F238E27FC236}">
                <a16:creationId xmlns:a16="http://schemas.microsoft.com/office/drawing/2014/main" id="{E23F5A94-A8E5-F64E-6DA6-D44C047BEFAE}"/>
              </a:ext>
            </a:extLst>
          </p:cNvPr>
          <p:cNvPicPr>
            <a:picLocks noChangeAspect="1"/>
          </p:cNvPicPr>
          <p:nvPr/>
        </p:nvPicPr>
        <p:blipFill>
          <a:blip r:embed="rId5"/>
          <a:stretch>
            <a:fillRect/>
          </a:stretch>
        </p:blipFill>
        <p:spPr>
          <a:xfrm>
            <a:off x="4572000" y="3173088"/>
            <a:ext cx="2928574" cy="685896"/>
          </a:xfrm>
          <a:prstGeom prst="rect">
            <a:avLst/>
          </a:prstGeom>
        </p:spPr>
      </p:pic>
      <p:pic>
        <p:nvPicPr>
          <p:cNvPr id="17" name="Picture 16">
            <a:extLst>
              <a:ext uri="{FF2B5EF4-FFF2-40B4-BE49-F238E27FC236}">
                <a16:creationId xmlns:a16="http://schemas.microsoft.com/office/drawing/2014/main" id="{B477E83F-D174-6B4C-F66C-778305E21A42}"/>
              </a:ext>
            </a:extLst>
          </p:cNvPr>
          <p:cNvPicPr>
            <a:picLocks noChangeAspect="1"/>
          </p:cNvPicPr>
          <p:nvPr/>
        </p:nvPicPr>
        <p:blipFill>
          <a:blip r:embed="rId6"/>
          <a:stretch>
            <a:fillRect/>
          </a:stretch>
        </p:blipFill>
        <p:spPr>
          <a:xfrm>
            <a:off x="2080204" y="3715623"/>
            <a:ext cx="800212" cy="5239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0BDE7627-B0E6-2D71-B409-7A0E81F8A9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5EA020F-7E73-9AEB-776C-B56FBD6C3674}"/>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99C01DAA-26CB-06A9-19A7-B24000BD96F9}"/>
              </a:ext>
            </a:extLst>
          </p:cNvPr>
          <p:cNvSpPr/>
          <p:nvPr/>
        </p:nvSpPr>
        <p:spPr>
          <a:xfrm>
            <a:off x="274320" y="73152"/>
            <a:ext cx="8595360" cy="365760"/>
          </a:xfrm>
          <a:prstGeom prst="rect">
            <a:avLst/>
          </a:prstGeom>
          <a:noFill/>
          <a:ln/>
        </p:spPr>
        <p:txBody>
          <a:bodyPr wrap="square" rtlCol="0" anchor="ctr"/>
          <a:lstStyle/>
          <a:p>
            <a:pPr marL="0" indent="0">
              <a:buNone/>
            </a:pPr>
            <a:r>
              <a:rPr lang="en-US" dirty="0">
                <a:solidFill>
                  <a:schemeClr val="bg1"/>
                </a:solidFill>
              </a:rPr>
              <a:t>BERT INTERNAL WORKING ARCHITECTURE</a:t>
            </a:r>
            <a:endParaRPr lang="en-US" sz="1800" dirty="0">
              <a:solidFill>
                <a:schemeClr val="bg1"/>
              </a:solidFill>
            </a:endParaRPr>
          </a:p>
        </p:txBody>
      </p:sp>
      <p:sp>
        <p:nvSpPr>
          <p:cNvPr id="6" name="Text 4">
            <a:extLst>
              <a:ext uri="{FF2B5EF4-FFF2-40B4-BE49-F238E27FC236}">
                <a16:creationId xmlns:a16="http://schemas.microsoft.com/office/drawing/2014/main" id="{A5D2836B-30F5-A4EE-E35B-B3B9396E66A4}"/>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357E3019-41FD-B814-D0C1-10D167A6AE58}"/>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5" name="Picture 4">
            <a:extLst>
              <a:ext uri="{FF2B5EF4-FFF2-40B4-BE49-F238E27FC236}">
                <a16:creationId xmlns:a16="http://schemas.microsoft.com/office/drawing/2014/main" id="{E783A77B-8F54-ED5B-710F-79AB6FB6A17A}"/>
              </a:ext>
            </a:extLst>
          </p:cNvPr>
          <p:cNvPicPr>
            <a:picLocks noChangeAspect="1"/>
          </p:cNvPicPr>
          <p:nvPr/>
        </p:nvPicPr>
        <p:blipFill>
          <a:blip r:embed="rId3"/>
          <a:stretch>
            <a:fillRect/>
          </a:stretch>
        </p:blipFill>
        <p:spPr>
          <a:xfrm>
            <a:off x="0" y="818388"/>
            <a:ext cx="9144000" cy="4325112"/>
          </a:xfrm>
          <a:prstGeom prst="rect">
            <a:avLst/>
          </a:prstGeom>
        </p:spPr>
      </p:pic>
      <p:pic>
        <p:nvPicPr>
          <p:cNvPr id="7" name="Picture 6">
            <a:extLst>
              <a:ext uri="{FF2B5EF4-FFF2-40B4-BE49-F238E27FC236}">
                <a16:creationId xmlns:a16="http://schemas.microsoft.com/office/drawing/2014/main" id="{9D5D2F08-5A14-8E73-AE00-F3A1D1B9C625}"/>
              </a:ext>
            </a:extLst>
          </p:cNvPr>
          <p:cNvPicPr>
            <a:picLocks noChangeAspect="1"/>
          </p:cNvPicPr>
          <p:nvPr/>
        </p:nvPicPr>
        <p:blipFill>
          <a:blip r:embed="rId4"/>
          <a:stretch>
            <a:fillRect/>
          </a:stretch>
        </p:blipFill>
        <p:spPr>
          <a:xfrm>
            <a:off x="3649885" y="4278420"/>
            <a:ext cx="1127856" cy="227138"/>
          </a:xfrm>
          <a:prstGeom prst="rect">
            <a:avLst/>
          </a:prstGeom>
        </p:spPr>
      </p:pic>
      <p:pic>
        <p:nvPicPr>
          <p:cNvPr id="9" name="Picture 8">
            <a:extLst>
              <a:ext uri="{FF2B5EF4-FFF2-40B4-BE49-F238E27FC236}">
                <a16:creationId xmlns:a16="http://schemas.microsoft.com/office/drawing/2014/main" id="{7533A7CF-B0FF-09CD-FCAD-4DFAA4D59FC5}"/>
              </a:ext>
            </a:extLst>
          </p:cNvPr>
          <p:cNvPicPr>
            <a:picLocks noChangeAspect="1"/>
          </p:cNvPicPr>
          <p:nvPr/>
        </p:nvPicPr>
        <p:blipFill>
          <a:blip r:embed="rId5"/>
          <a:stretch>
            <a:fillRect/>
          </a:stretch>
        </p:blipFill>
        <p:spPr>
          <a:xfrm>
            <a:off x="2725178" y="4850483"/>
            <a:ext cx="3943900" cy="293017"/>
          </a:xfrm>
          <a:prstGeom prst="rect">
            <a:avLst/>
          </a:prstGeom>
        </p:spPr>
      </p:pic>
      <p:pic>
        <p:nvPicPr>
          <p:cNvPr id="11" name="Picture 10">
            <a:extLst>
              <a:ext uri="{FF2B5EF4-FFF2-40B4-BE49-F238E27FC236}">
                <a16:creationId xmlns:a16="http://schemas.microsoft.com/office/drawing/2014/main" id="{6AF49882-B821-6410-0FFD-B1EBBDF9B31B}"/>
              </a:ext>
            </a:extLst>
          </p:cNvPr>
          <p:cNvPicPr>
            <a:picLocks noChangeAspect="1"/>
          </p:cNvPicPr>
          <p:nvPr/>
        </p:nvPicPr>
        <p:blipFill>
          <a:blip r:embed="rId5"/>
          <a:stretch>
            <a:fillRect/>
          </a:stretch>
        </p:blipFill>
        <p:spPr>
          <a:xfrm>
            <a:off x="5934589" y="4886130"/>
            <a:ext cx="3209411" cy="279079"/>
          </a:xfrm>
          <a:prstGeom prst="rect">
            <a:avLst/>
          </a:prstGeom>
        </p:spPr>
      </p:pic>
    </p:spTree>
    <p:extLst>
      <p:ext uri="{BB962C8B-B14F-4D97-AF65-F5344CB8AC3E}">
        <p14:creationId xmlns:p14="http://schemas.microsoft.com/office/powerpoint/2010/main" val="3363931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D845D867-6EFE-3ED4-0DAA-344BEC0751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FC0E7D6-8E33-F9BA-4489-2A7494784706}"/>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6CF3CD39-F6D4-260D-8686-5680AAABDB40}"/>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4C7BF72C-A150-BB11-801C-95CF49B0211D}"/>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79FD549E-1021-DEA6-8575-143ABCF90250}"/>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5" name="Picture 4">
            <a:extLst>
              <a:ext uri="{FF2B5EF4-FFF2-40B4-BE49-F238E27FC236}">
                <a16:creationId xmlns:a16="http://schemas.microsoft.com/office/drawing/2014/main" id="{55D3906D-FEF3-9083-B154-2B56966CD710}"/>
              </a:ext>
            </a:extLst>
          </p:cNvPr>
          <p:cNvPicPr>
            <a:picLocks noChangeAspect="1"/>
          </p:cNvPicPr>
          <p:nvPr/>
        </p:nvPicPr>
        <p:blipFill>
          <a:blip r:embed="rId3"/>
          <a:stretch>
            <a:fillRect/>
          </a:stretch>
        </p:blipFill>
        <p:spPr>
          <a:xfrm>
            <a:off x="5341" y="-60960"/>
            <a:ext cx="9133317" cy="5204460"/>
          </a:xfrm>
          <a:prstGeom prst="rect">
            <a:avLst/>
          </a:prstGeom>
        </p:spPr>
      </p:pic>
    </p:spTree>
    <p:extLst>
      <p:ext uri="{BB962C8B-B14F-4D97-AF65-F5344CB8AC3E}">
        <p14:creationId xmlns:p14="http://schemas.microsoft.com/office/powerpoint/2010/main" val="297785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EF4B54B9-8A66-94BC-2223-1D367847F2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92F0695-E628-F654-FA21-9AF8321E08A4}"/>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A2998192-6E6B-3126-6A7A-7BAA5639194C}"/>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9E0A5629-454B-7B61-C30F-27587F64EAA9}"/>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F04036A0-2234-5220-24D3-EE1CBD178878}"/>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7" name="Picture 6">
            <a:extLst>
              <a:ext uri="{FF2B5EF4-FFF2-40B4-BE49-F238E27FC236}">
                <a16:creationId xmlns:a16="http://schemas.microsoft.com/office/drawing/2014/main" id="{F73D7BF3-7FD1-1CFC-699E-A6C71F05C94B}"/>
              </a:ext>
            </a:extLst>
          </p:cNvPr>
          <p:cNvPicPr>
            <a:picLocks noChangeAspect="1"/>
          </p:cNvPicPr>
          <p:nvPr/>
        </p:nvPicPr>
        <p:blipFill>
          <a:blip r:embed="rId3"/>
          <a:stretch>
            <a:fillRect/>
          </a:stretch>
        </p:blipFill>
        <p:spPr>
          <a:xfrm>
            <a:off x="0" y="2361"/>
            <a:ext cx="9144000" cy="5138777"/>
          </a:xfrm>
          <a:prstGeom prst="rect">
            <a:avLst/>
          </a:prstGeom>
        </p:spPr>
      </p:pic>
    </p:spTree>
    <p:extLst>
      <p:ext uri="{BB962C8B-B14F-4D97-AF65-F5344CB8AC3E}">
        <p14:creationId xmlns:p14="http://schemas.microsoft.com/office/powerpoint/2010/main" val="3034554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4FA52D54-6289-4604-FCEB-F7396B25CA5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E9990D2-5221-1A17-BCDB-B2DE242B9555}"/>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E807018B-A3BA-360E-ECD9-A50FD3FF6B4F}"/>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6E6AF588-C795-D29B-E072-887C400FD7E9}"/>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DD8719BC-B156-5A46-DE98-529D9BCED827}"/>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5" name="Picture 4">
            <a:extLst>
              <a:ext uri="{FF2B5EF4-FFF2-40B4-BE49-F238E27FC236}">
                <a16:creationId xmlns:a16="http://schemas.microsoft.com/office/drawing/2014/main" id="{36FC0CF8-8186-22A7-6C2E-A13F9EDCBB9E}"/>
              </a:ext>
            </a:extLst>
          </p:cNvPr>
          <p:cNvPicPr>
            <a:picLocks noChangeAspect="1"/>
          </p:cNvPicPr>
          <p:nvPr/>
        </p:nvPicPr>
        <p:blipFill>
          <a:blip r:embed="rId3"/>
          <a:stretch>
            <a:fillRect/>
          </a:stretch>
        </p:blipFill>
        <p:spPr>
          <a:xfrm>
            <a:off x="23559" y="0"/>
            <a:ext cx="9096881" cy="5143500"/>
          </a:xfrm>
          <a:prstGeom prst="rect">
            <a:avLst/>
          </a:prstGeom>
        </p:spPr>
      </p:pic>
    </p:spTree>
    <p:extLst>
      <p:ext uri="{BB962C8B-B14F-4D97-AF65-F5344CB8AC3E}">
        <p14:creationId xmlns:p14="http://schemas.microsoft.com/office/powerpoint/2010/main" val="1730532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FECDCCC7-EA5B-C47D-6233-2D1CA7F4A82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DBE7EE0-99C1-1BA1-C52E-8FF70F5D4B24}"/>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56E274A7-8B6E-17B5-611E-6D32C297B0F9}"/>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3B1AA2D4-D80B-ABBD-CCA7-51A31A735EB6}"/>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0A8A2A55-D5CB-5066-DC0D-33C880EFE649}"/>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7" name="Picture 6">
            <a:extLst>
              <a:ext uri="{FF2B5EF4-FFF2-40B4-BE49-F238E27FC236}">
                <a16:creationId xmlns:a16="http://schemas.microsoft.com/office/drawing/2014/main" id="{8487196B-7536-93CC-7B4C-FE0DD3927C0A}"/>
              </a:ext>
            </a:extLst>
          </p:cNvPr>
          <p:cNvPicPr>
            <a:picLocks noChangeAspect="1"/>
          </p:cNvPicPr>
          <p:nvPr/>
        </p:nvPicPr>
        <p:blipFill>
          <a:blip r:embed="rId3"/>
          <a:stretch>
            <a:fillRect/>
          </a:stretch>
        </p:blipFill>
        <p:spPr>
          <a:xfrm>
            <a:off x="7957" y="0"/>
            <a:ext cx="9128085" cy="5143500"/>
          </a:xfrm>
          <a:prstGeom prst="rect">
            <a:avLst/>
          </a:prstGeom>
        </p:spPr>
      </p:pic>
      <p:pic>
        <p:nvPicPr>
          <p:cNvPr id="5" name="Picture 4">
            <a:extLst>
              <a:ext uri="{FF2B5EF4-FFF2-40B4-BE49-F238E27FC236}">
                <a16:creationId xmlns:a16="http://schemas.microsoft.com/office/drawing/2014/main" id="{9FA0CAC8-E278-3205-C94E-4F2729BD690B}"/>
              </a:ext>
            </a:extLst>
          </p:cNvPr>
          <p:cNvPicPr>
            <a:picLocks noChangeAspect="1"/>
          </p:cNvPicPr>
          <p:nvPr/>
        </p:nvPicPr>
        <p:blipFill>
          <a:blip r:embed="rId4"/>
          <a:stretch>
            <a:fillRect/>
          </a:stretch>
        </p:blipFill>
        <p:spPr>
          <a:xfrm>
            <a:off x="4686013" y="3867800"/>
            <a:ext cx="4115374" cy="800212"/>
          </a:xfrm>
          <a:prstGeom prst="rect">
            <a:avLst/>
          </a:prstGeom>
        </p:spPr>
      </p:pic>
    </p:spTree>
    <p:extLst>
      <p:ext uri="{BB962C8B-B14F-4D97-AF65-F5344CB8AC3E}">
        <p14:creationId xmlns:p14="http://schemas.microsoft.com/office/powerpoint/2010/main" val="4097741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92243983-F9EA-88E3-E1D9-8604D564342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0ACA77-7340-586B-D00B-1D70AEA97914}"/>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EC83DF2A-02AC-B71B-EF11-D6C7A12682DA}"/>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0D94D52F-E009-C261-3BB5-48F3B8FD5DB8}"/>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4F18CDE1-0415-AF61-446F-7D780C611C07}"/>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5" name="Picture 4">
            <a:extLst>
              <a:ext uri="{FF2B5EF4-FFF2-40B4-BE49-F238E27FC236}">
                <a16:creationId xmlns:a16="http://schemas.microsoft.com/office/drawing/2014/main" id="{2A69FFCF-47DF-C771-F5BB-3090D87458D3}"/>
              </a:ext>
            </a:extLst>
          </p:cNvPr>
          <p:cNvPicPr>
            <a:picLocks noChangeAspect="1"/>
          </p:cNvPicPr>
          <p:nvPr/>
        </p:nvPicPr>
        <p:blipFill>
          <a:blip r:embed="rId3"/>
          <a:stretch>
            <a:fillRect/>
          </a:stretch>
        </p:blipFill>
        <p:spPr>
          <a:xfrm>
            <a:off x="0" y="0"/>
            <a:ext cx="9144000" cy="5119007"/>
          </a:xfrm>
          <a:prstGeom prst="rect">
            <a:avLst/>
          </a:prstGeom>
        </p:spPr>
      </p:pic>
    </p:spTree>
    <p:extLst>
      <p:ext uri="{BB962C8B-B14F-4D97-AF65-F5344CB8AC3E}">
        <p14:creationId xmlns:p14="http://schemas.microsoft.com/office/powerpoint/2010/main" val="1669620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91A45D91-1955-49C0-7C22-87A9C0A824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0CFBA4-D2EE-3250-8EA3-1AC12AABB429}"/>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0A19C49C-6538-18DC-4E30-E8986E1E6F1E}"/>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24E3AE1D-464B-8260-7B9F-12016A6FF113}"/>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1C36D20B-43CE-5CC5-D0EC-08ED403403B9}"/>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7" name="Picture 6">
            <a:extLst>
              <a:ext uri="{FF2B5EF4-FFF2-40B4-BE49-F238E27FC236}">
                <a16:creationId xmlns:a16="http://schemas.microsoft.com/office/drawing/2014/main" id="{AC5165BA-0CF1-1EEF-B8AC-4FC449CBDA47}"/>
              </a:ext>
            </a:extLst>
          </p:cNvPr>
          <p:cNvPicPr>
            <a:picLocks noChangeAspect="1"/>
          </p:cNvPicPr>
          <p:nvPr/>
        </p:nvPicPr>
        <p:blipFill>
          <a:blip r:embed="rId3"/>
          <a:stretch>
            <a:fillRect/>
          </a:stretch>
        </p:blipFill>
        <p:spPr>
          <a:xfrm>
            <a:off x="0" y="28126"/>
            <a:ext cx="9144000" cy="5087247"/>
          </a:xfrm>
          <a:prstGeom prst="rect">
            <a:avLst/>
          </a:prstGeom>
        </p:spPr>
      </p:pic>
    </p:spTree>
    <p:extLst>
      <p:ext uri="{BB962C8B-B14F-4D97-AF65-F5344CB8AC3E}">
        <p14:creationId xmlns:p14="http://schemas.microsoft.com/office/powerpoint/2010/main" val="7061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C9E7566D-1BC6-8779-25BA-73D0675A2F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179A1F-DDCD-2103-78B6-391EDA4F56C6}"/>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B9A57B6A-B982-90C6-F3F0-96B75CC1B1F9}"/>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39CEDDDC-AA67-CFC0-96FB-BA17AB62302F}"/>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4394DAD4-9DCE-6868-9824-455E7A26EEEC}"/>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7" name="Picture 6">
            <a:extLst>
              <a:ext uri="{FF2B5EF4-FFF2-40B4-BE49-F238E27FC236}">
                <a16:creationId xmlns:a16="http://schemas.microsoft.com/office/drawing/2014/main" id="{4F6F8B9B-909D-E2DA-AA92-CAB2EE8CE10B}"/>
              </a:ext>
            </a:extLst>
          </p:cNvPr>
          <p:cNvPicPr>
            <a:picLocks noChangeAspect="1"/>
          </p:cNvPicPr>
          <p:nvPr/>
        </p:nvPicPr>
        <p:blipFill>
          <a:blip r:embed="rId3"/>
          <a:stretch>
            <a:fillRect/>
          </a:stretch>
        </p:blipFill>
        <p:spPr>
          <a:xfrm>
            <a:off x="0" y="717"/>
            <a:ext cx="9144000" cy="5142065"/>
          </a:xfrm>
          <a:prstGeom prst="rect">
            <a:avLst/>
          </a:prstGeom>
        </p:spPr>
      </p:pic>
    </p:spTree>
    <p:extLst>
      <p:ext uri="{BB962C8B-B14F-4D97-AF65-F5344CB8AC3E}">
        <p14:creationId xmlns:p14="http://schemas.microsoft.com/office/powerpoint/2010/main" val="2155967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E20F6E03-9404-6F58-A9D2-DEE7F444ABC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E28A328-79AD-4DDB-4E52-E43C482D32FE}"/>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EDC86C2E-ECBE-3DD7-1666-4BD1EB9DF803}"/>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AA9AB430-456F-90AD-45BF-5254DD274BF9}"/>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40761442-B770-7835-2789-A0ED50E6032A}"/>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5" name="Picture 4">
            <a:extLst>
              <a:ext uri="{FF2B5EF4-FFF2-40B4-BE49-F238E27FC236}">
                <a16:creationId xmlns:a16="http://schemas.microsoft.com/office/drawing/2014/main" id="{144D1908-9BF9-5DE8-DE15-4EEDAE6F329B}"/>
              </a:ext>
            </a:extLst>
          </p:cNvPr>
          <p:cNvPicPr>
            <a:picLocks noChangeAspect="1"/>
          </p:cNvPicPr>
          <p:nvPr/>
        </p:nvPicPr>
        <p:blipFill>
          <a:blip r:embed="rId3"/>
          <a:stretch>
            <a:fillRect/>
          </a:stretch>
        </p:blipFill>
        <p:spPr>
          <a:xfrm>
            <a:off x="0" y="-15498"/>
            <a:ext cx="9144000" cy="5143500"/>
          </a:xfrm>
          <a:prstGeom prst="rect">
            <a:avLst/>
          </a:prstGeom>
        </p:spPr>
      </p:pic>
    </p:spTree>
    <p:extLst>
      <p:ext uri="{BB962C8B-B14F-4D97-AF65-F5344CB8AC3E}">
        <p14:creationId xmlns:p14="http://schemas.microsoft.com/office/powerpoint/2010/main" val="1905427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FA7C7B4A-D51F-F119-E857-705911D0A9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610ED8-C311-AB9B-7C17-7E4DDD79A316}"/>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5FF80980-91D7-39AD-D871-461D429669AF}"/>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AD782934-262C-9AFA-7837-7F8075D8993D}"/>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652C22C1-8168-DA19-6E81-846C7CE43D90}"/>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5" name="Picture 4">
            <a:extLst>
              <a:ext uri="{FF2B5EF4-FFF2-40B4-BE49-F238E27FC236}">
                <a16:creationId xmlns:a16="http://schemas.microsoft.com/office/drawing/2014/main" id="{D9EF07DD-F56D-91DB-88D6-A11AB377B501}"/>
              </a:ext>
            </a:extLst>
          </p:cNvPr>
          <p:cNvPicPr>
            <a:picLocks noChangeAspect="1"/>
          </p:cNvPicPr>
          <p:nvPr/>
        </p:nvPicPr>
        <p:blipFill>
          <a:blip r:embed="rId3"/>
          <a:stretch>
            <a:fillRect/>
          </a:stretch>
        </p:blipFill>
        <p:spPr>
          <a:xfrm>
            <a:off x="-116237" y="-34191"/>
            <a:ext cx="9260237" cy="5177691"/>
          </a:xfrm>
          <a:prstGeom prst="rect">
            <a:avLst/>
          </a:prstGeom>
        </p:spPr>
      </p:pic>
    </p:spTree>
    <p:extLst>
      <p:ext uri="{BB962C8B-B14F-4D97-AF65-F5344CB8AC3E}">
        <p14:creationId xmlns:p14="http://schemas.microsoft.com/office/powerpoint/2010/main" val="722115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CBE659C2-6F34-6CA6-E1AA-CFDF8BEB76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0C47BC-8DBA-F1B1-1FC2-4705B62B999B}"/>
              </a:ext>
            </a:extLst>
          </p:cNvPr>
          <p:cNvSpPr/>
          <p:nvPr/>
        </p:nvSpPr>
        <p:spPr>
          <a:xfrm>
            <a:off x="0" y="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2FDFEC70-EDF4-67EC-9942-1644DDA8CCF5}"/>
              </a:ext>
            </a:extLst>
          </p:cNvPr>
          <p:cNvSpPr/>
          <p:nvPr/>
        </p:nvSpPr>
        <p:spPr>
          <a:xfrm>
            <a:off x="274320" y="73152"/>
            <a:ext cx="8595360" cy="365760"/>
          </a:xfrm>
          <a:prstGeom prst="rect">
            <a:avLst/>
          </a:prstGeom>
          <a:noFill/>
          <a:ln/>
        </p:spPr>
        <p:txBody>
          <a:bodyPr wrap="square" rtlCol="0" anchor="ctr"/>
          <a:lstStyle/>
          <a:p>
            <a:pPr marL="0" indent="0">
              <a:buNone/>
            </a:pPr>
            <a:r>
              <a:rPr lang="en-US" sz="1800" b="1" dirty="0">
                <a:solidFill>
                  <a:srgbClr val="FFFFFF"/>
                </a:solidFill>
              </a:rPr>
              <a:t>FULL SYSTEM ARCHITECTURE — BIG PICTURE</a:t>
            </a:r>
            <a:endParaRPr lang="en-US" sz="1800" dirty="0"/>
          </a:p>
        </p:txBody>
      </p:sp>
      <p:sp>
        <p:nvSpPr>
          <p:cNvPr id="6" name="Text 4">
            <a:extLst>
              <a:ext uri="{FF2B5EF4-FFF2-40B4-BE49-F238E27FC236}">
                <a16:creationId xmlns:a16="http://schemas.microsoft.com/office/drawing/2014/main" id="{49983BEB-E0DA-41DE-9C79-100369FD412B}"/>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B9A6B819-C482-EEBE-AA8F-3A0DF8AF3607}"/>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pic>
        <p:nvPicPr>
          <p:cNvPr id="7" name="Picture 6">
            <a:extLst>
              <a:ext uri="{FF2B5EF4-FFF2-40B4-BE49-F238E27FC236}">
                <a16:creationId xmlns:a16="http://schemas.microsoft.com/office/drawing/2014/main" id="{5D970DFD-05A5-2944-6BE2-0EFE54736A2B}"/>
              </a:ext>
            </a:extLst>
          </p:cNvPr>
          <p:cNvPicPr>
            <a:picLocks noChangeAspect="1"/>
          </p:cNvPicPr>
          <p:nvPr/>
        </p:nvPicPr>
        <p:blipFill>
          <a:blip r:embed="rId3"/>
          <a:stretch>
            <a:fillRect/>
          </a:stretch>
        </p:blipFill>
        <p:spPr>
          <a:xfrm>
            <a:off x="0" y="1454"/>
            <a:ext cx="9144000" cy="5140591"/>
          </a:xfrm>
          <a:prstGeom prst="rect">
            <a:avLst/>
          </a:prstGeom>
        </p:spPr>
      </p:pic>
    </p:spTree>
    <p:extLst>
      <p:ext uri="{BB962C8B-B14F-4D97-AF65-F5344CB8AC3E}">
        <p14:creationId xmlns:p14="http://schemas.microsoft.com/office/powerpoint/2010/main" val="2801061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5A4D3CA4-7BD8-2189-68C4-6EC837D598B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BEB4F0B-25C1-1EBC-EA0D-087D7526D4C4}"/>
              </a:ext>
            </a:extLst>
          </p:cNvPr>
          <p:cNvSpPr/>
          <p:nvPr/>
        </p:nvSpPr>
        <p:spPr>
          <a:xfrm>
            <a:off x="0" y="2194560"/>
            <a:ext cx="9144000" cy="502920"/>
          </a:xfrm>
          <a:prstGeom prst="rect">
            <a:avLst/>
          </a:prstGeom>
          <a:solidFill>
            <a:srgbClr val="00897B"/>
          </a:solidFill>
          <a:ln w="12700">
            <a:solidFill>
              <a:srgbClr val="00897B"/>
            </a:solidFill>
            <a:prstDash val="solid"/>
          </a:ln>
        </p:spPr>
      </p:sp>
      <p:sp>
        <p:nvSpPr>
          <p:cNvPr id="3" name="Text 1">
            <a:extLst>
              <a:ext uri="{FF2B5EF4-FFF2-40B4-BE49-F238E27FC236}">
                <a16:creationId xmlns:a16="http://schemas.microsoft.com/office/drawing/2014/main" id="{FB0AB362-BBEE-71A2-97EC-E480DDCB4F62}"/>
              </a:ext>
            </a:extLst>
          </p:cNvPr>
          <p:cNvSpPr/>
          <p:nvPr/>
        </p:nvSpPr>
        <p:spPr>
          <a:xfrm>
            <a:off x="3314700" y="2194560"/>
            <a:ext cx="8595360" cy="365760"/>
          </a:xfrm>
          <a:prstGeom prst="rect">
            <a:avLst/>
          </a:prstGeom>
          <a:noFill/>
          <a:ln/>
        </p:spPr>
        <p:txBody>
          <a:bodyPr wrap="square" rtlCol="0" anchor="ctr"/>
          <a:lstStyle/>
          <a:p>
            <a:pPr marL="0" indent="0">
              <a:buNone/>
            </a:pPr>
            <a:r>
              <a:rPr lang="en-US" sz="2800" dirty="0">
                <a:solidFill>
                  <a:schemeClr val="bg1"/>
                </a:solidFill>
              </a:rPr>
              <a:t>THANK YOU</a:t>
            </a:r>
          </a:p>
        </p:txBody>
      </p:sp>
      <p:sp>
        <p:nvSpPr>
          <p:cNvPr id="6" name="Text 4">
            <a:extLst>
              <a:ext uri="{FF2B5EF4-FFF2-40B4-BE49-F238E27FC236}">
                <a16:creationId xmlns:a16="http://schemas.microsoft.com/office/drawing/2014/main" id="{22791475-9073-870C-9F38-2C827724614D}"/>
              </a:ext>
            </a:extLst>
          </p:cNvPr>
          <p:cNvSpPr/>
          <p:nvPr/>
        </p:nvSpPr>
        <p:spPr>
          <a:xfrm>
            <a:off x="91440" y="658368"/>
            <a:ext cx="1371600" cy="320040"/>
          </a:xfrm>
          <a:prstGeom prst="rect">
            <a:avLst/>
          </a:prstGeom>
          <a:noFill/>
          <a:ln/>
        </p:spPr>
        <p:txBody>
          <a:bodyPr wrap="square" rtlCol="0" anchor="ctr"/>
          <a:lstStyle/>
          <a:p>
            <a:pPr marL="0" indent="0" algn="ctr">
              <a:buNone/>
            </a:pPr>
            <a:endParaRPr lang="en-US" sz="1400" dirty="0"/>
          </a:p>
        </p:txBody>
      </p:sp>
      <p:sp>
        <p:nvSpPr>
          <p:cNvPr id="69" name="Text 67">
            <a:extLst>
              <a:ext uri="{FF2B5EF4-FFF2-40B4-BE49-F238E27FC236}">
                <a16:creationId xmlns:a16="http://schemas.microsoft.com/office/drawing/2014/main" id="{C96BA577-C125-1669-2AFA-8743F62FBD2A}"/>
              </a:ext>
            </a:extLst>
          </p:cNvPr>
          <p:cNvSpPr/>
          <p:nvPr/>
        </p:nvSpPr>
        <p:spPr>
          <a:xfrm>
            <a:off x="274320" y="4416552"/>
            <a:ext cx="8595360" cy="502920"/>
          </a:xfrm>
          <a:prstGeom prst="rect">
            <a:avLst/>
          </a:prstGeom>
          <a:noFill/>
          <a:ln/>
        </p:spPr>
        <p:txBody>
          <a:bodyPr wrap="square" rtlCol="0" anchor="ctr"/>
          <a:lstStyle/>
          <a:p>
            <a:pPr marL="0" indent="0" algn="ctr">
              <a:buNone/>
            </a:pPr>
            <a:endParaRPr lang="en-US" sz="1200" dirty="0"/>
          </a:p>
        </p:txBody>
      </p:sp>
    </p:spTree>
    <p:extLst>
      <p:ext uri="{BB962C8B-B14F-4D97-AF65-F5344CB8AC3E}">
        <p14:creationId xmlns:p14="http://schemas.microsoft.com/office/powerpoint/2010/main" val="3159175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743</Words>
  <Application>Microsoft Office PowerPoint</Application>
  <PresentationFormat>On-screen Show (16:9)</PresentationFormat>
  <Paragraphs>79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Depression Detection from Reddit Posts - Simple Explanation</dc:title>
  <dc:subject>PptxGenJS Presentation</dc:subject>
  <dc:creator>PptxGenJS</dc:creator>
  <cp:lastModifiedBy>Sravanthi Madhupada</cp:lastModifiedBy>
  <cp:revision>34</cp:revision>
  <dcterms:created xsi:type="dcterms:W3CDTF">2026-03-06T08:42:30Z</dcterms:created>
  <dcterms:modified xsi:type="dcterms:W3CDTF">2026-03-11T04:16:13Z</dcterms:modified>
</cp:coreProperties>
</file>